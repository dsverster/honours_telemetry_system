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6" r:id="rId5"/>
    <p:sldId id="258" r:id="rId6"/>
    <p:sldId id="263" r:id="rId7"/>
    <p:sldId id="262" r:id="rId8"/>
    <p:sldId id="261" r:id="rId9"/>
    <p:sldId id="260" r:id="rId10"/>
    <p:sldId id="259" r:id="rId11"/>
    <p:sldId id="25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29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3734" autoAdjust="0"/>
  </p:normalViewPr>
  <p:slideViewPr>
    <p:cSldViewPr snapToGrid="0">
      <p:cViewPr varScale="1">
        <p:scale>
          <a:sx n="98" d="100"/>
          <a:sy n="98" d="100"/>
        </p:scale>
        <p:origin x="107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675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day. I am Denzel Verster, and my project is a communication and tracking system for a stratospheric balloon. My supervisor is Professor Gunther Drevin.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Research balloons flying at twenty to thirty kilometres need telemetry to be followed, and a way to find the payload after landing. But power, weight and bandwidth are limited, and cellular networks serve people on the ground. My question was: how can a reliable, power-efficient communication and tracking system be built for a stratospheric balloon? My plan was GPS positioning, a long-range UHF link and a matching ground station.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used design science research within the pragmatic paradigm, because the outcome is a working artefact. It was built in three cycles: GPS, transmitter and ground station. Performance was measured quantitatively, first on the ground and then on a balloon flight. Ethical considerations were information leakage, spectrum rules and flight safety.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concepts matter. Telemetry is collecting and sending data from a remote platform. UHF around 433 megahertz gives long range at low power, but low data rates. GPS gives position from satellite timing. Redundancy, such as sending data more than once, reduces the chance of losing contact.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airborne unit has a GPS module feeding a Raspberry Pi Zero, which sends position through a Radiometrix NTX2 transmitter on 434.65 megahertz, powered by a power bank. Every minute it sends a short packet of about thirty-three bytes: a counter, latitude, longitude, altitude and time. The NTX2 has no error checking, so I designed my own frame, with synchronisation, length, a CRC and Manchester coding, and send six copies of every frame. On the ground, an NRX2 receiver feeds an Arduino Uno, which decodes and checks each frame, and a computer logs 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These are excerpts from the flight logs. On the left, the Raspberry Pi logs each packet as it is sent, and every packet goes out as six copies. On the right, the ground station logs the same packets after decoding, with the signal strength and how many of the six copies arrived. Packet 47 arrived with only two copies, and was still decoded. This confirmed that the link worked from end to end.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ground, stationary GPS readings varied by 5.6 metres on average, and by up to 51 metres. In link tests at up to 20 metres, every reading arrived, along with 98.8 percent of individual copies. In the balloon flight on 9 October, the system tracked the balloon up to 5.4 kilometres altitude and 7.2 kilometres distance. All 18 airborne packets arrived, even though only 85 percent of copies did, so the repeated copies worked. After about 17.5 minutes the power bank stopped supplying power, and telemetry ended.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prototype shows that position data can be acquired, transmitted and logged reliably when each reading is repeated, up to 5.4 kilometres. The research question is therefore answered in part. Not yet demonstrated are operation at stratospheric altitude, power consumption, and recovery using this system, since the payload was found with an independent GPS tracker. The next step is a repeat flight with a bench-tested power supply, measured current draw and a backup tracker.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BBC08-E79F-7040-8CD7-D268FC775E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5FC8C9-99D9-903D-CE6E-DBBD5E993D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1BD387-1BA8-9074-AF7A-AFC937A7D164}"/>
              </a:ext>
            </a:extLst>
          </p:cNvPr>
          <p:cNvSpPr>
            <a:spLocks noGrp="1"/>
          </p:cNvSpPr>
          <p:nvPr>
            <p:ph type="dt" sz="half" idx="10"/>
          </p:nvPr>
        </p:nvSpPr>
        <p:spPr/>
        <p:txBody>
          <a:bodyPr/>
          <a:lstStyle/>
          <a:p>
            <a:fld id="{528966A4-F9E1-4082-9BF6-427132D10FA3}" type="datetimeFigureOut">
              <a:rPr lang="en-US" smtClean="0"/>
              <a:t>10/21/2026</a:t>
            </a:fld>
            <a:endParaRPr lang="en-US"/>
          </a:p>
        </p:txBody>
      </p:sp>
      <p:sp>
        <p:nvSpPr>
          <p:cNvPr id="5" name="Footer Placeholder 4">
            <a:extLst>
              <a:ext uri="{FF2B5EF4-FFF2-40B4-BE49-F238E27FC236}">
                <a16:creationId xmlns:a16="http://schemas.microsoft.com/office/drawing/2014/main" id="{07087864-6017-99C9-D994-0EEEA1A2B3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411324-82A9-53C8-45EF-CED24C310BB7}"/>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37281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0CB43-D14B-4843-9B76-A82E1BB78B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DCDC29-78C2-0A1D-3ED7-91EB9F80CC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66B6E4-F0A6-ACAC-C0BD-84B01C1DC226}"/>
              </a:ext>
            </a:extLst>
          </p:cNvPr>
          <p:cNvSpPr>
            <a:spLocks noGrp="1"/>
          </p:cNvSpPr>
          <p:nvPr>
            <p:ph type="dt" sz="half" idx="10"/>
          </p:nvPr>
        </p:nvSpPr>
        <p:spPr/>
        <p:txBody>
          <a:bodyPr/>
          <a:lstStyle/>
          <a:p>
            <a:fld id="{528966A4-F9E1-4082-9BF6-427132D10FA3}" type="datetimeFigureOut">
              <a:rPr lang="en-US" smtClean="0"/>
              <a:t>10/21/2026</a:t>
            </a:fld>
            <a:endParaRPr lang="en-US"/>
          </a:p>
        </p:txBody>
      </p:sp>
      <p:sp>
        <p:nvSpPr>
          <p:cNvPr id="5" name="Footer Placeholder 4">
            <a:extLst>
              <a:ext uri="{FF2B5EF4-FFF2-40B4-BE49-F238E27FC236}">
                <a16:creationId xmlns:a16="http://schemas.microsoft.com/office/drawing/2014/main" id="{B50376E1-1CF8-19E0-A1BC-093BEED3B5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F83F3D-FDA2-88DE-1521-369D662919CB}"/>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449296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AB91E-719A-7A87-755C-9BD5D844EC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0E143A-A9ED-6267-246E-D57FC0ACB5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899E1C-822B-45B4-8D55-D910A0529E29}"/>
              </a:ext>
            </a:extLst>
          </p:cNvPr>
          <p:cNvSpPr>
            <a:spLocks noGrp="1"/>
          </p:cNvSpPr>
          <p:nvPr>
            <p:ph type="dt" sz="half" idx="10"/>
          </p:nvPr>
        </p:nvSpPr>
        <p:spPr/>
        <p:txBody>
          <a:bodyPr/>
          <a:lstStyle/>
          <a:p>
            <a:fld id="{528966A4-F9E1-4082-9BF6-427132D10FA3}" type="datetimeFigureOut">
              <a:rPr lang="en-US" smtClean="0"/>
              <a:t>10/21/2026</a:t>
            </a:fld>
            <a:endParaRPr lang="en-US"/>
          </a:p>
        </p:txBody>
      </p:sp>
      <p:sp>
        <p:nvSpPr>
          <p:cNvPr id="5" name="Footer Placeholder 4">
            <a:extLst>
              <a:ext uri="{FF2B5EF4-FFF2-40B4-BE49-F238E27FC236}">
                <a16:creationId xmlns:a16="http://schemas.microsoft.com/office/drawing/2014/main" id="{8D997498-D67B-3C6A-6C2F-7A3B3CACB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8B7EBA-B7CE-1FE5-714E-E0AC9F7EB53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958795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C845B-00D3-86C3-A83D-DD0E4A8F07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B6BEC6-C4E4-B2BE-1B8E-4F5BC81CDF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2A034F-85C0-F2F7-B6C3-81787945E4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54C82D-CFF1-FEEC-88E1-D829B77098AD}"/>
              </a:ext>
            </a:extLst>
          </p:cNvPr>
          <p:cNvSpPr>
            <a:spLocks noGrp="1"/>
          </p:cNvSpPr>
          <p:nvPr>
            <p:ph type="dt" sz="half" idx="10"/>
          </p:nvPr>
        </p:nvSpPr>
        <p:spPr/>
        <p:txBody>
          <a:bodyPr/>
          <a:lstStyle/>
          <a:p>
            <a:fld id="{528966A4-F9E1-4082-9BF6-427132D10FA3}" type="datetimeFigureOut">
              <a:rPr lang="en-US" smtClean="0"/>
              <a:t>10/21/2026</a:t>
            </a:fld>
            <a:endParaRPr lang="en-US"/>
          </a:p>
        </p:txBody>
      </p:sp>
      <p:sp>
        <p:nvSpPr>
          <p:cNvPr id="6" name="Footer Placeholder 5">
            <a:extLst>
              <a:ext uri="{FF2B5EF4-FFF2-40B4-BE49-F238E27FC236}">
                <a16:creationId xmlns:a16="http://schemas.microsoft.com/office/drawing/2014/main" id="{C8EDB3A4-CA03-1344-6ECC-76A48C66FA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A03E8E-01FE-EFB4-3EBC-E6D964849691}"/>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632624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736D0-FF12-66A5-8D1E-3F85111819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11D6AB-B92D-33A9-EB86-D23A4267E7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C2AB5F-819F-836E-2107-961FA06CF5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488996-99C7-BA1D-3722-CE3AFDB034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68B816-6A4D-B432-3763-465301B647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959120-386C-E7C6-2422-29C0706458FA}"/>
              </a:ext>
            </a:extLst>
          </p:cNvPr>
          <p:cNvSpPr>
            <a:spLocks noGrp="1"/>
          </p:cNvSpPr>
          <p:nvPr>
            <p:ph type="dt" sz="half" idx="10"/>
          </p:nvPr>
        </p:nvSpPr>
        <p:spPr/>
        <p:txBody>
          <a:bodyPr/>
          <a:lstStyle/>
          <a:p>
            <a:fld id="{528966A4-F9E1-4082-9BF6-427132D10FA3}" type="datetimeFigureOut">
              <a:rPr lang="en-US" smtClean="0"/>
              <a:t>10/21/2026</a:t>
            </a:fld>
            <a:endParaRPr lang="en-US"/>
          </a:p>
        </p:txBody>
      </p:sp>
      <p:sp>
        <p:nvSpPr>
          <p:cNvPr id="8" name="Footer Placeholder 7">
            <a:extLst>
              <a:ext uri="{FF2B5EF4-FFF2-40B4-BE49-F238E27FC236}">
                <a16:creationId xmlns:a16="http://schemas.microsoft.com/office/drawing/2014/main" id="{F2A0B9E5-F780-748E-A4B4-C6426D85AC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129619-C47A-6E28-690D-573DFD1B4416}"/>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151807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60B4-53A7-8A5E-81B4-F1FB79D107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F1918C-E9B7-EBFA-BEC0-CAFFF9B2154D}"/>
              </a:ext>
            </a:extLst>
          </p:cNvPr>
          <p:cNvSpPr>
            <a:spLocks noGrp="1"/>
          </p:cNvSpPr>
          <p:nvPr>
            <p:ph type="dt" sz="half" idx="10"/>
          </p:nvPr>
        </p:nvSpPr>
        <p:spPr/>
        <p:txBody>
          <a:bodyPr/>
          <a:lstStyle/>
          <a:p>
            <a:fld id="{528966A4-F9E1-4082-9BF6-427132D10FA3}" type="datetimeFigureOut">
              <a:rPr lang="en-US" smtClean="0"/>
              <a:t>10/21/2026</a:t>
            </a:fld>
            <a:endParaRPr lang="en-US"/>
          </a:p>
        </p:txBody>
      </p:sp>
      <p:sp>
        <p:nvSpPr>
          <p:cNvPr id="4" name="Footer Placeholder 3">
            <a:extLst>
              <a:ext uri="{FF2B5EF4-FFF2-40B4-BE49-F238E27FC236}">
                <a16:creationId xmlns:a16="http://schemas.microsoft.com/office/drawing/2014/main" id="{E9D67FE0-E94F-8718-4641-50EB277124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FA0CD1-0E05-CBD8-D7F8-84D5BFDA2201}"/>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1908071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A738A3-534C-E327-546D-296D3E06F077}"/>
              </a:ext>
            </a:extLst>
          </p:cNvPr>
          <p:cNvSpPr>
            <a:spLocks noGrp="1"/>
          </p:cNvSpPr>
          <p:nvPr>
            <p:ph type="dt" sz="half" idx="10"/>
          </p:nvPr>
        </p:nvSpPr>
        <p:spPr/>
        <p:txBody>
          <a:bodyPr/>
          <a:lstStyle/>
          <a:p>
            <a:fld id="{528966A4-F9E1-4082-9BF6-427132D10FA3}" type="datetimeFigureOut">
              <a:rPr lang="en-US" smtClean="0"/>
              <a:t>10/21/2026</a:t>
            </a:fld>
            <a:endParaRPr lang="en-US"/>
          </a:p>
        </p:txBody>
      </p:sp>
      <p:sp>
        <p:nvSpPr>
          <p:cNvPr id="3" name="Footer Placeholder 2">
            <a:extLst>
              <a:ext uri="{FF2B5EF4-FFF2-40B4-BE49-F238E27FC236}">
                <a16:creationId xmlns:a16="http://schemas.microsoft.com/office/drawing/2014/main" id="{785C59B8-2111-125D-9E4B-71DDAF8E6B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F5AC02-681C-AAB4-A3DC-00ABE8FAD89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014806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66650-2894-1352-8A55-0C12354693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65DE14-2C37-6EEC-01D2-51CA238559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977555-CD7D-7D54-9586-E2B279723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4F9366-C4F7-0F80-96C9-C337F79EAE51}"/>
              </a:ext>
            </a:extLst>
          </p:cNvPr>
          <p:cNvSpPr>
            <a:spLocks noGrp="1"/>
          </p:cNvSpPr>
          <p:nvPr>
            <p:ph type="dt" sz="half" idx="10"/>
          </p:nvPr>
        </p:nvSpPr>
        <p:spPr/>
        <p:txBody>
          <a:bodyPr/>
          <a:lstStyle/>
          <a:p>
            <a:fld id="{528966A4-F9E1-4082-9BF6-427132D10FA3}" type="datetimeFigureOut">
              <a:rPr lang="en-US" smtClean="0"/>
              <a:t>10/21/2026</a:t>
            </a:fld>
            <a:endParaRPr lang="en-US"/>
          </a:p>
        </p:txBody>
      </p:sp>
      <p:sp>
        <p:nvSpPr>
          <p:cNvPr id="6" name="Footer Placeholder 5">
            <a:extLst>
              <a:ext uri="{FF2B5EF4-FFF2-40B4-BE49-F238E27FC236}">
                <a16:creationId xmlns:a16="http://schemas.microsoft.com/office/drawing/2014/main" id="{B9A2F07B-3ECB-0BDC-370C-A25485DB4F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90014D-B500-2A8D-025F-E8A5D17DC96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566153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4A881-6D96-61B9-96AD-70118D3F10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948AD0-AF13-3E5A-EABA-F8F1F4ACC1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E6730E-9437-89A7-58A8-1AAF9F5CBB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3A682F-63F3-A2CD-78A0-01856CEC99B7}"/>
              </a:ext>
            </a:extLst>
          </p:cNvPr>
          <p:cNvSpPr>
            <a:spLocks noGrp="1"/>
          </p:cNvSpPr>
          <p:nvPr>
            <p:ph type="dt" sz="half" idx="10"/>
          </p:nvPr>
        </p:nvSpPr>
        <p:spPr/>
        <p:txBody>
          <a:bodyPr/>
          <a:lstStyle/>
          <a:p>
            <a:fld id="{528966A4-F9E1-4082-9BF6-427132D10FA3}" type="datetimeFigureOut">
              <a:rPr lang="en-US" smtClean="0"/>
              <a:t>10/21/2026</a:t>
            </a:fld>
            <a:endParaRPr lang="en-US"/>
          </a:p>
        </p:txBody>
      </p:sp>
      <p:sp>
        <p:nvSpPr>
          <p:cNvPr id="6" name="Footer Placeholder 5">
            <a:extLst>
              <a:ext uri="{FF2B5EF4-FFF2-40B4-BE49-F238E27FC236}">
                <a16:creationId xmlns:a16="http://schemas.microsoft.com/office/drawing/2014/main" id="{96DFCEFE-9AED-C52A-51E1-90A2CE3A04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7B7724-378C-1763-684D-B11749530296}"/>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238897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185DE-9AB3-3792-2A2B-F0FEA95094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D564B1-18FF-BB19-9B40-76A62803EB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4FB277-24A9-6259-3B9C-873CC0628405}"/>
              </a:ext>
            </a:extLst>
          </p:cNvPr>
          <p:cNvSpPr>
            <a:spLocks noGrp="1"/>
          </p:cNvSpPr>
          <p:nvPr>
            <p:ph type="dt" sz="half" idx="10"/>
          </p:nvPr>
        </p:nvSpPr>
        <p:spPr/>
        <p:txBody>
          <a:bodyPr/>
          <a:lstStyle/>
          <a:p>
            <a:fld id="{528966A4-F9E1-4082-9BF6-427132D10FA3}" type="datetimeFigureOut">
              <a:rPr lang="en-US" smtClean="0"/>
              <a:t>10/21/2026</a:t>
            </a:fld>
            <a:endParaRPr lang="en-US"/>
          </a:p>
        </p:txBody>
      </p:sp>
      <p:sp>
        <p:nvSpPr>
          <p:cNvPr id="5" name="Footer Placeholder 4">
            <a:extLst>
              <a:ext uri="{FF2B5EF4-FFF2-40B4-BE49-F238E27FC236}">
                <a16:creationId xmlns:a16="http://schemas.microsoft.com/office/drawing/2014/main" id="{891B150F-B42C-7F72-163C-1024DFAFEA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5D1D55-221F-11DD-E535-9ABCD47A4C23}"/>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91605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E19572-B251-3B55-BDFF-5A4C4BCD20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4B3B1C-3D52-773B-2BC9-7CAF85219C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667C81-BBC4-12F2-4C69-371781F33DC0}"/>
              </a:ext>
            </a:extLst>
          </p:cNvPr>
          <p:cNvSpPr>
            <a:spLocks noGrp="1"/>
          </p:cNvSpPr>
          <p:nvPr>
            <p:ph type="dt" sz="half" idx="10"/>
          </p:nvPr>
        </p:nvSpPr>
        <p:spPr/>
        <p:txBody>
          <a:bodyPr/>
          <a:lstStyle/>
          <a:p>
            <a:fld id="{528966A4-F9E1-4082-9BF6-427132D10FA3}" type="datetimeFigureOut">
              <a:rPr lang="en-US" smtClean="0"/>
              <a:t>10/21/2026</a:t>
            </a:fld>
            <a:endParaRPr lang="en-US"/>
          </a:p>
        </p:txBody>
      </p:sp>
      <p:sp>
        <p:nvSpPr>
          <p:cNvPr id="5" name="Footer Placeholder 4">
            <a:extLst>
              <a:ext uri="{FF2B5EF4-FFF2-40B4-BE49-F238E27FC236}">
                <a16:creationId xmlns:a16="http://schemas.microsoft.com/office/drawing/2014/main" id="{1861973A-A739-5D01-18CD-77EA80860C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765F69-913C-121A-5966-DFE44F835252}"/>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433308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12127D-5057-8E18-F077-6C4F910235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DA6024-E2D4-7197-43DB-056A0DACB3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E391EA-DE72-D3B7-7B8E-3449D1BDB5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8966A4-F9E1-4082-9BF6-427132D10FA3}" type="datetimeFigureOut">
              <a:rPr lang="en-US" smtClean="0"/>
              <a:t>10/21/2026</a:t>
            </a:fld>
            <a:endParaRPr lang="en-US"/>
          </a:p>
        </p:txBody>
      </p:sp>
      <p:sp>
        <p:nvSpPr>
          <p:cNvPr id="5" name="Footer Placeholder 4">
            <a:extLst>
              <a:ext uri="{FF2B5EF4-FFF2-40B4-BE49-F238E27FC236}">
                <a16:creationId xmlns:a16="http://schemas.microsoft.com/office/drawing/2014/main" id="{3458A575-6B96-8A47-35F3-66CAA1053F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F7DED54-49D8-6C4D-4EBA-D237BC79F6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0CF79A-2F49-45EB-A148-F0BEDE4BEE5A}" type="slidenum">
              <a:rPr lang="en-US" smtClean="0"/>
              <a:t>‹#›</a:t>
            </a:fld>
            <a:endParaRPr lang="en-US"/>
          </a:p>
        </p:txBody>
      </p:sp>
    </p:spTree>
    <p:extLst>
      <p:ext uri="{BB962C8B-B14F-4D97-AF65-F5344CB8AC3E}">
        <p14:creationId xmlns:p14="http://schemas.microsoft.com/office/powerpoint/2010/main" val="4274632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87525C2-4DE5-614D-8D40-AD7458CC4DFC}"/>
              </a:ext>
            </a:extLst>
          </p:cNvPr>
          <p:cNvSpPr>
            <a:spLocks noGrp="1"/>
          </p:cNvSpPr>
          <p:nvPr>
            <p:ph type="ctrTitle"/>
          </p:nvPr>
        </p:nvSpPr>
        <p:spPr>
          <a:xfrm>
            <a:off x="5924765" y="948309"/>
            <a:ext cx="6065072" cy="1485220"/>
          </a:xfrm>
        </p:spPr>
        <p:txBody>
          <a:bodyPr>
            <a:noAutofit/>
          </a:bodyPr>
          <a:lstStyle/>
          <a:p>
            <a:pPr algn="l"/>
            <a:r>
              <a:rPr sz="4000" b="1" dirty="0">
                <a:solidFill>
                  <a:srgbClr val="4A2268"/>
                </a:solidFill>
              </a:rPr>
              <a:t>Communication and Tracking System for a Stratospheric Balloon</a:t>
            </a:r>
          </a:p>
        </p:txBody>
      </p:sp>
      <p:sp>
        <p:nvSpPr>
          <p:cNvPr id="5" name="Subtitle 2">
            <a:extLst>
              <a:ext uri="{FF2B5EF4-FFF2-40B4-BE49-F238E27FC236}">
                <a16:creationId xmlns:a16="http://schemas.microsoft.com/office/drawing/2014/main" id="{017CA6AE-5AD8-4817-66D3-6C09DFD23441}"/>
              </a:ext>
            </a:extLst>
          </p:cNvPr>
          <p:cNvSpPr>
            <a:spLocks noGrp="1"/>
          </p:cNvSpPr>
          <p:nvPr>
            <p:ph type="subTitle" idx="1"/>
          </p:nvPr>
        </p:nvSpPr>
        <p:spPr>
          <a:xfrm>
            <a:off x="5924765" y="2433529"/>
            <a:ext cx="5850468" cy="1188720"/>
          </a:xfrm>
        </p:spPr>
        <p:txBody>
          <a:bodyPr/>
          <a:lstStyle/>
          <a:p>
            <a:pPr marL="0" indent="0" algn="l"/>
            <a:r>
              <a:rPr sz="2400" b="1" dirty="0">
                <a:solidFill>
                  <a:srgbClr val="1F2529"/>
                </a:solidFill>
              </a:rPr>
              <a:t>Denzel</a:t>
            </a:r>
            <a:r>
              <a:rPr lang="en-ZA" sz="2400" b="1" dirty="0">
                <a:solidFill>
                  <a:srgbClr val="1F2529"/>
                </a:solidFill>
              </a:rPr>
              <a:t> </a:t>
            </a:r>
            <a:r>
              <a:rPr lang="en-ZA" sz="2400" b="1" dirty="0" err="1">
                <a:solidFill>
                  <a:srgbClr val="1F2529"/>
                </a:solidFill>
              </a:rPr>
              <a:t>Stockenström</a:t>
            </a:r>
            <a:r>
              <a:rPr sz="2400" b="1" dirty="0">
                <a:solidFill>
                  <a:srgbClr val="1F2529"/>
                </a:solidFill>
              </a:rPr>
              <a:t> Verster</a:t>
            </a:r>
          </a:p>
          <a:p>
            <a:pPr marL="0" indent="0" algn="l"/>
            <a:r>
              <a:rPr b="1" dirty="0">
                <a:solidFill>
                  <a:srgbClr val="1F2529"/>
                </a:solidFill>
              </a:rPr>
              <a:t>Supervisor: Prof. Gunther Drevin</a:t>
            </a:r>
          </a:p>
        </p:txBody>
      </p:sp>
    </p:spTree>
    <p:extLst>
      <p:ext uri="{BB962C8B-B14F-4D97-AF65-F5344CB8AC3E}">
        <p14:creationId xmlns:p14="http://schemas.microsoft.com/office/powerpoint/2010/main" val="4273677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1E416-87AD-24D6-8EAA-67D01701E4F3}"/>
              </a:ext>
            </a:extLst>
          </p:cNvPr>
          <p:cNvSpPr>
            <a:spLocks noGrp="1"/>
          </p:cNvSpPr>
          <p:nvPr>
            <p:ph type="title"/>
          </p:nvPr>
        </p:nvSpPr>
        <p:spPr>
          <a:xfrm>
            <a:off x="841248" y="320040"/>
            <a:ext cx="10515600" cy="914400"/>
          </a:xfrm>
        </p:spPr>
        <p:txBody>
          <a:bodyPr anchor="ctr"/>
          <a:lstStyle/>
          <a:p>
            <a:r>
              <a:rPr sz="3600" b="1" dirty="0">
                <a:solidFill>
                  <a:srgbClr val="6C3D91"/>
                </a:solidFill>
              </a:rPr>
              <a:t>Problem statement</a:t>
            </a:r>
            <a:endParaRPr lang="en-US" dirty="0">
              <a:solidFill>
                <a:srgbClr val="6F298C"/>
              </a:solidFill>
            </a:endParaRPr>
          </a:p>
        </p:txBody>
      </p:sp>
      <p:sp>
        <p:nvSpPr>
          <p:cNvPr id="3" name="Content Placeholder 2">
            <a:extLst>
              <a:ext uri="{FF2B5EF4-FFF2-40B4-BE49-F238E27FC236}">
                <a16:creationId xmlns:a16="http://schemas.microsoft.com/office/drawing/2014/main" id="{61F780BD-2805-3312-CE5C-B394C667F8E9}"/>
              </a:ext>
            </a:extLst>
          </p:cNvPr>
          <p:cNvSpPr>
            <a:spLocks noGrp="1"/>
          </p:cNvSpPr>
          <p:nvPr>
            <p:ph idx="1"/>
          </p:nvPr>
        </p:nvSpPr>
        <p:spPr>
          <a:xfrm>
            <a:off x="841248" y="1554480"/>
            <a:ext cx="5486400" cy="3108960"/>
          </a:xfrm>
        </p:spPr>
        <p:txBody>
          <a:bodyPr>
            <a:normAutofit/>
          </a:bodyPr>
          <a:lstStyle/>
          <a:p>
            <a:pPr>
              <a:spcAft>
                <a:spcPts val="1200"/>
              </a:spcAft>
            </a:pPr>
            <a:r>
              <a:rPr b="0" dirty="0">
                <a:solidFill>
                  <a:srgbClr val="3A4147"/>
                </a:solidFill>
              </a:rPr>
              <a:t>Tracking, telemetry and payload recovery at 20 to 30 km</a:t>
            </a:r>
            <a:endParaRPr lang="en-US" dirty="0">
              <a:solidFill>
                <a:srgbClr val="6F298C"/>
              </a:solidFill>
            </a:endParaRPr>
          </a:p>
          <a:p>
            <a:pPr>
              <a:spcAft>
                <a:spcPts val="1200"/>
              </a:spcAft>
            </a:pPr>
            <a:r>
              <a:rPr b="0" dirty="0">
                <a:solidFill>
                  <a:srgbClr val="3A4147"/>
                </a:solidFill>
              </a:rPr>
              <a:t>Strict power, weight and bandwidth limits</a:t>
            </a:r>
          </a:p>
          <a:p>
            <a:pPr>
              <a:spcAft>
                <a:spcPts val="1200"/>
              </a:spcAft>
            </a:pPr>
            <a:r>
              <a:rPr b="0" dirty="0">
                <a:solidFill>
                  <a:srgbClr val="3A4147"/>
                </a:solidFill>
              </a:rPr>
              <a:t>Cellular networks do not serve aerial users</a:t>
            </a:r>
          </a:p>
        </p:txBody>
      </p:sp>
      <p:sp>
        <p:nvSpPr>
          <p:cNvPr id="4" name="Research question card"/>
          <p:cNvSpPr/>
          <p:nvPr/>
        </p:nvSpPr>
        <p:spPr>
          <a:xfrm>
            <a:off x="6675120" y="1554480"/>
            <a:ext cx="4663440" cy="2016856"/>
          </a:xfrm>
          <a:prstGeom prst="roundRect">
            <a:avLst>
              <a:gd name="adj" fmla="val 8000"/>
            </a:avLst>
          </a:prstGeom>
          <a:solidFill>
            <a:srgbClr val="ECE6F3"/>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73152" rIns="228600" bIns="73152" rtlCol="0" anchor="t"/>
          <a:lstStyle/>
          <a:p>
            <a:pPr algn="l">
              <a:spcAft>
                <a:spcPts val="600"/>
              </a:spcAft>
            </a:pPr>
            <a:r>
              <a:rPr sz="2400" b="1" dirty="0">
                <a:solidFill>
                  <a:srgbClr val="6C3D91"/>
                </a:solidFill>
              </a:rPr>
              <a:t>Research question</a:t>
            </a:r>
          </a:p>
          <a:p>
            <a:pPr algn="l">
              <a:spcAft>
                <a:spcPts val="0"/>
              </a:spcAft>
            </a:pPr>
            <a:r>
              <a:rPr sz="2400" b="0" dirty="0">
                <a:solidFill>
                  <a:srgbClr val="3A4147"/>
                </a:solidFill>
              </a:rPr>
              <a:t>How can a reliable, power-efficient communication and tracking system be built for a stratospheric balloon?</a:t>
            </a:r>
          </a:p>
        </p:txBody>
      </p:sp>
      <p:sp>
        <p:nvSpPr>
          <p:cNvPr id="5" name="Plan card"/>
          <p:cNvSpPr/>
          <p:nvPr/>
        </p:nvSpPr>
        <p:spPr>
          <a:xfrm>
            <a:off x="6675120" y="3657600"/>
            <a:ext cx="4663440" cy="1337094"/>
          </a:xfrm>
          <a:prstGeom prst="roundRect">
            <a:avLst>
              <a:gd name="adj" fmla="val 8000"/>
            </a:avLst>
          </a:prstGeom>
          <a:solidFill>
            <a:srgbClr val="D9EFF3"/>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73152" rIns="228600" bIns="73152" rtlCol="0" anchor="t"/>
          <a:lstStyle/>
          <a:p>
            <a:pPr algn="l">
              <a:spcAft>
                <a:spcPts val="400"/>
              </a:spcAft>
            </a:pPr>
            <a:r>
              <a:rPr sz="2400" b="1" dirty="0">
                <a:solidFill>
                  <a:srgbClr val="00889C"/>
                </a:solidFill>
              </a:rPr>
              <a:t>Plan</a:t>
            </a:r>
          </a:p>
          <a:p>
            <a:pPr algn="l">
              <a:spcAft>
                <a:spcPts val="0"/>
              </a:spcAft>
            </a:pPr>
            <a:r>
              <a:rPr sz="2400" b="0" dirty="0">
                <a:solidFill>
                  <a:srgbClr val="3A4147"/>
                </a:solidFill>
              </a:rPr>
              <a:t>GPS positioning + UHF link + ground station</a:t>
            </a:r>
          </a:p>
        </p:txBody>
      </p:sp>
    </p:spTree>
    <p:extLst>
      <p:ext uri="{BB962C8B-B14F-4D97-AF65-F5344CB8AC3E}">
        <p14:creationId xmlns:p14="http://schemas.microsoft.com/office/powerpoint/2010/main" val="1875593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1E416-87AD-24D6-8EAA-67D01701E4F3}"/>
              </a:ext>
            </a:extLst>
          </p:cNvPr>
          <p:cNvSpPr>
            <a:spLocks noGrp="1"/>
          </p:cNvSpPr>
          <p:nvPr>
            <p:ph type="title"/>
          </p:nvPr>
        </p:nvSpPr>
        <p:spPr>
          <a:xfrm>
            <a:off x="841248" y="320040"/>
            <a:ext cx="10515600" cy="914400"/>
          </a:xfrm>
        </p:spPr>
        <p:txBody>
          <a:bodyPr anchor="ctr"/>
          <a:lstStyle/>
          <a:p>
            <a:r>
              <a:rPr sz="3600" b="1" dirty="0">
                <a:solidFill>
                  <a:srgbClr val="6C3D91"/>
                </a:solidFill>
              </a:rPr>
              <a:t>Methodology</a:t>
            </a:r>
            <a:endParaRPr lang="en-US" dirty="0">
              <a:solidFill>
                <a:srgbClr val="6F298C"/>
              </a:solidFill>
            </a:endParaRPr>
          </a:p>
        </p:txBody>
      </p:sp>
      <p:sp>
        <p:nvSpPr>
          <p:cNvPr id="3" name="Content Placeholder 2">
            <a:extLst>
              <a:ext uri="{FF2B5EF4-FFF2-40B4-BE49-F238E27FC236}">
                <a16:creationId xmlns:a16="http://schemas.microsoft.com/office/drawing/2014/main" id="{61F780BD-2805-3312-CE5C-B394C667F8E9}"/>
              </a:ext>
            </a:extLst>
          </p:cNvPr>
          <p:cNvSpPr>
            <a:spLocks noGrp="1"/>
          </p:cNvSpPr>
          <p:nvPr>
            <p:ph idx="1"/>
          </p:nvPr>
        </p:nvSpPr>
        <p:spPr>
          <a:xfrm>
            <a:off x="841248" y="1417320"/>
            <a:ext cx="10424160" cy="2103120"/>
          </a:xfrm>
        </p:spPr>
        <p:txBody>
          <a:bodyPr>
            <a:normAutofit/>
          </a:bodyPr>
          <a:lstStyle/>
          <a:p>
            <a:pPr>
              <a:spcAft>
                <a:spcPts val="1200"/>
              </a:spcAft>
            </a:pPr>
            <a:r>
              <a:rPr sz="2400" b="0" dirty="0">
                <a:solidFill>
                  <a:srgbClr val="3A4147"/>
                </a:solidFill>
              </a:rPr>
              <a:t>Pragmatic paradigm, design science research</a:t>
            </a:r>
            <a:endParaRPr lang="en-US" sz="2400" dirty="0">
              <a:solidFill>
                <a:srgbClr val="6F298C"/>
              </a:solidFill>
            </a:endParaRPr>
          </a:p>
          <a:p>
            <a:pPr>
              <a:spcAft>
                <a:spcPts val="1200"/>
              </a:spcAft>
            </a:pPr>
            <a:r>
              <a:rPr sz="2400" b="0" dirty="0">
                <a:solidFill>
                  <a:srgbClr val="3A4147"/>
                </a:solidFill>
              </a:rPr>
              <a:t>Quantitative metrics: packet success, signal strength, range</a:t>
            </a:r>
          </a:p>
          <a:p>
            <a:pPr>
              <a:spcAft>
                <a:spcPts val="1200"/>
              </a:spcAft>
            </a:pPr>
            <a:r>
              <a:rPr sz="2400" b="0" dirty="0">
                <a:solidFill>
                  <a:srgbClr val="3A4147"/>
                </a:solidFill>
              </a:rPr>
              <a:t>Ethics: information leakage, spectrum rules, flight safety</a:t>
            </a:r>
          </a:p>
        </p:txBody>
      </p:sp>
      <p:sp>
        <p:nvSpPr>
          <p:cNvPr id="4" name="Step 1"/>
          <p:cNvSpPr/>
          <p:nvPr/>
        </p:nvSpPr>
        <p:spPr>
          <a:xfrm>
            <a:off x="932688" y="3703320"/>
            <a:ext cx="1828800" cy="1234440"/>
          </a:xfrm>
          <a:prstGeom prst="roundRect">
            <a:avLst>
              <a:gd name="adj" fmla="val 8000"/>
            </a:avLst>
          </a:prstGeom>
          <a:solidFill>
            <a:srgbClr val="ECE6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0"/>
              </a:spcAft>
            </a:pPr>
            <a:r>
              <a:rPr sz="2000" b="1">
                <a:solidFill>
                  <a:srgbClr val="6C3D91"/>
                </a:solidFill>
              </a:rPr>
              <a:t>Cycle 1</a:t>
            </a:r>
          </a:p>
          <a:p>
            <a:pPr algn="ctr">
              <a:spcAft>
                <a:spcPts val="0"/>
              </a:spcAft>
            </a:pPr>
            <a:r>
              <a:rPr sz="2000" b="0">
                <a:solidFill>
                  <a:srgbClr val="3A4147"/>
                </a:solidFill>
              </a:rPr>
              <a:t>GPS interface</a:t>
            </a:r>
          </a:p>
        </p:txBody>
      </p:sp>
      <p:sp>
        <p:nvSpPr>
          <p:cNvPr id="5" name="Arrow"/>
          <p:cNvSpPr/>
          <p:nvPr/>
        </p:nvSpPr>
        <p:spPr>
          <a:xfrm>
            <a:off x="2798064" y="4187952"/>
            <a:ext cx="246888" cy="274320"/>
          </a:xfrm>
          <a:prstGeom prst="rightArrow">
            <a:avLst/>
          </a:prstGeom>
          <a:solidFill>
            <a:srgbClr val="0088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tep 2"/>
          <p:cNvSpPr/>
          <p:nvPr/>
        </p:nvSpPr>
        <p:spPr>
          <a:xfrm>
            <a:off x="3081528" y="3703320"/>
            <a:ext cx="1828800" cy="1234440"/>
          </a:xfrm>
          <a:prstGeom prst="roundRect">
            <a:avLst>
              <a:gd name="adj" fmla="val 8000"/>
            </a:avLst>
          </a:prstGeom>
          <a:solidFill>
            <a:srgbClr val="ECE6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0"/>
              </a:spcAft>
            </a:pPr>
            <a:r>
              <a:rPr sz="2000" b="1">
                <a:solidFill>
                  <a:srgbClr val="6C3D91"/>
                </a:solidFill>
              </a:rPr>
              <a:t>Cycle 2</a:t>
            </a:r>
          </a:p>
          <a:p>
            <a:pPr algn="ctr">
              <a:spcAft>
                <a:spcPts val="0"/>
              </a:spcAft>
            </a:pPr>
            <a:r>
              <a:rPr sz="2000" b="0">
                <a:solidFill>
                  <a:srgbClr val="3A4147"/>
                </a:solidFill>
              </a:rPr>
              <a:t>Transmitter</a:t>
            </a:r>
          </a:p>
        </p:txBody>
      </p:sp>
      <p:sp>
        <p:nvSpPr>
          <p:cNvPr id="7" name="Arrow"/>
          <p:cNvSpPr/>
          <p:nvPr/>
        </p:nvSpPr>
        <p:spPr>
          <a:xfrm>
            <a:off x="4946904" y="4187952"/>
            <a:ext cx="246888" cy="274320"/>
          </a:xfrm>
          <a:prstGeom prst="rightArrow">
            <a:avLst/>
          </a:prstGeom>
          <a:solidFill>
            <a:srgbClr val="0088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tep 3"/>
          <p:cNvSpPr/>
          <p:nvPr/>
        </p:nvSpPr>
        <p:spPr>
          <a:xfrm>
            <a:off x="5230368" y="3703320"/>
            <a:ext cx="1828800" cy="1234440"/>
          </a:xfrm>
          <a:prstGeom prst="roundRect">
            <a:avLst>
              <a:gd name="adj" fmla="val 8000"/>
            </a:avLst>
          </a:prstGeom>
          <a:solidFill>
            <a:srgbClr val="ECE6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0"/>
              </a:spcAft>
            </a:pPr>
            <a:r>
              <a:rPr sz="2000" b="1">
                <a:solidFill>
                  <a:srgbClr val="6C3D91"/>
                </a:solidFill>
              </a:rPr>
              <a:t>Cycle 3</a:t>
            </a:r>
          </a:p>
          <a:p>
            <a:pPr algn="ctr">
              <a:spcAft>
                <a:spcPts val="0"/>
              </a:spcAft>
            </a:pPr>
            <a:r>
              <a:rPr sz="2000" b="0">
                <a:solidFill>
                  <a:srgbClr val="3A4147"/>
                </a:solidFill>
              </a:rPr>
              <a:t>Ground station</a:t>
            </a:r>
          </a:p>
        </p:txBody>
      </p:sp>
      <p:sp>
        <p:nvSpPr>
          <p:cNvPr id="9" name="Arrow"/>
          <p:cNvSpPr/>
          <p:nvPr/>
        </p:nvSpPr>
        <p:spPr>
          <a:xfrm>
            <a:off x="7095744" y="4187952"/>
            <a:ext cx="246888" cy="274320"/>
          </a:xfrm>
          <a:prstGeom prst="rightArrow">
            <a:avLst/>
          </a:prstGeom>
          <a:solidFill>
            <a:srgbClr val="0088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tep 4"/>
          <p:cNvSpPr/>
          <p:nvPr/>
        </p:nvSpPr>
        <p:spPr>
          <a:xfrm>
            <a:off x="7379208" y="3703320"/>
            <a:ext cx="1828800" cy="1234440"/>
          </a:xfrm>
          <a:prstGeom prst="roundRect">
            <a:avLst>
              <a:gd name="adj" fmla="val 8000"/>
            </a:avLst>
          </a:prstGeom>
          <a:solidFill>
            <a:srgbClr val="D9EF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0"/>
              </a:spcAft>
            </a:pPr>
            <a:r>
              <a:rPr sz="2000" b="1">
                <a:solidFill>
                  <a:srgbClr val="00889C"/>
                </a:solidFill>
              </a:rPr>
              <a:t>Evaluate</a:t>
            </a:r>
          </a:p>
          <a:p>
            <a:pPr algn="ctr">
              <a:spcAft>
                <a:spcPts val="0"/>
              </a:spcAft>
            </a:pPr>
            <a:r>
              <a:rPr sz="2000" b="0">
                <a:solidFill>
                  <a:srgbClr val="3A4147"/>
                </a:solidFill>
              </a:rPr>
              <a:t>Ground tests</a:t>
            </a:r>
          </a:p>
        </p:txBody>
      </p:sp>
      <p:sp>
        <p:nvSpPr>
          <p:cNvPr id="11" name="Arrow"/>
          <p:cNvSpPr/>
          <p:nvPr/>
        </p:nvSpPr>
        <p:spPr>
          <a:xfrm>
            <a:off x="9244584" y="4187952"/>
            <a:ext cx="246888" cy="274320"/>
          </a:xfrm>
          <a:prstGeom prst="rightArrow">
            <a:avLst/>
          </a:prstGeom>
          <a:solidFill>
            <a:srgbClr val="0088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tep 5"/>
          <p:cNvSpPr/>
          <p:nvPr/>
        </p:nvSpPr>
        <p:spPr>
          <a:xfrm>
            <a:off x="9528048" y="3703320"/>
            <a:ext cx="1828800" cy="1234440"/>
          </a:xfrm>
          <a:prstGeom prst="roundRect">
            <a:avLst>
              <a:gd name="adj" fmla="val 8000"/>
            </a:avLst>
          </a:prstGeom>
          <a:solidFill>
            <a:srgbClr val="D9EF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0"/>
              </a:spcAft>
            </a:pPr>
            <a:r>
              <a:rPr sz="2000" b="1">
                <a:solidFill>
                  <a:srgbClr val="00889C"/>
                </a:solidFill>
              </a:rPr>
              <a:t>Evaluate</a:t>
            </a:r>
          </a:p>
          <a:p>
            <a:pPr algn="ctr">
              <a:spcAft>
                <a:spcPts val="0"/>
              </a:spcAft>
            </a:pPr>
            <a:r>
              <a:rPr sz="2000" b="0">
                <a:solidFill>
                  <a:srgbClr val="3A4147"/>
                </a:solidFill>
              </a:rPr>
              <a:t>Balloon flight</a:t>
            </a:r>
          </a:p>
        </p:txBody>
      </p:sp>
    </p:spTree>
    <p:extLst>
      <p:ext uri="{BB962C8B-B14F-4D97-AF65-F5344CB8AC3E}">
        <p14:creationId xmlns:p14="http://schemas.microsoft.com/office/powerpoint/2010/main" val="1875593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1E416-87AD-24D6-8EAA-67D01701E4F3}"/>
              </a:ext>
            </a:extLst>
          </p:cNvPr>
          <p:cNvSpPr>
            <a:spLocks noGrp="1"/>
          </p:cNvSpPr>
          <p:nvPr>
            <p:ph type="title"/>
          </p:nvPr>
        </p:nvSpPr>
        <p:spPr>
          <a:xfrm>
            <a:off x="841248" y="320040"/>
            <a:ext cx="10515600" cy="914400"/>
          </a:xfrm>
        </p:spPr>
        <p:txBody>
          <a:bodyPr anchor="ctr"/>
          <a:lstStyle/>
          <a:p>
            <a:r>
              <a:rPr sz="3600" b="1" dirty="0">
                <a:solidFill>
                  <a:srgbClr val="6C3D91"/>
                </a:solidFill>
              </a:rPr>
              <a:t>Key concepts from the literature</a:t>
            </a:r>
            <a:endParaRPr lang="en-US" dirty="0">
              <a:solidFill>
                <a:srgbClr val="6F298C"/>
              </a:solidFill>
            </a:endParaRPr>
          </a:p>
        </p:txBody>
      </p:sp>
      <p:sp>
        <p:nvSpPr>
          <p:cNvPr id="3" name="Concept 1"/>
          <p:cNvSpPr/>
          <p:nvPr/>
        </p:nvSpPr>
        <p:spPr>
          <a:xfrm>
            <a:off x="932688" y="1508760"/>
            <a:ext cx="5074920" cy="1737360"/>
          </a:xfrm>
          <a:prstGeom prst="roundRect">
            <a:avLst>
              <a:gd name="adj" fmla="val 8000"/>
            </a:avLst>
          </a:prstGeom>
          <a:solidFill>
            <a:srgbClr val="ECE6F3"/>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73152" rIns="228600" bIns="73152" rtlCol="0" anchor="t"/>
          <a:lstStyle/>
          <a:p>
            <a:pPr algn="l">
              <a:spcAft>
                <a:spcPts val="600"/>
              </a:spcAft>
            </a:pPr>
            <a:r>
              <a:rPr sz="2400" b="1" dirty="0">
                <a:solidFill>
                  <a:srgbClr val="6C3D91"/>
                </a:solidFill>
              </a:rPr>
              <a:t>Telemetry</a:t>
            </a:r>
          </a:p>
          <a:p>
            <a:pPr algn="l">
              <a:spcAft>
                <a:spcPts val="0"/>
              </a:spcAft>
            </a:pPr>
            <a:r>
              <a:rPr sz="2400" b="0" dirty="0">
                <a:solidFill>
                  <a:srgbClr val="3A4147"/>
                </a:solidFill>
              </a:rPr>
              <a:t>Collect, process and send data from a remote platform</a:t>
            </a:r>
          </a:p>
        </p:txBody>
      </p:sp>
      <p:sp>
        <p:nvSpPr>
          <p:cNvPr id="4" name="Concept 2"/>
          <p:cNvSpPr/>
          <p:nvPr/>
        </p:nvSpPr>
        <p:spPr>
          <a:xfrm>
            <a:off x="6281927" y="1508760"/>
            <a:ext cx="5074920" cy="1737360"/>
          </a:xfrm>
          <a:prstGeom prst="roundRect">
            <a:avLst>
              <a:gd name="adj" fmla="val 8000"/>
            </a:avLst>
          </a:prstGeom>
          <a:solidFill>
            <a:srgbClr val="D9EFF3"/>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73152" rIns="228600" bIns="73152" rtlCol="0" anchor="t"/>
          <a:lstStyle/>
          <a:p>
            <a:pPr algn="l">
              <a:spcAft>
                <a:spcPts val="600"/>
              </a:spcAft>
            </a:pPr>
            <a:r>
              <a:rPr sz="2400" b="1" dirty="0">
                <a:solidFill>
                  <a:srgbClr val="00889C"/>
                </a:solidFill>
              </a:rPr>
              <a:t>UHF at 433 MHz</a:t>
            </a:r>
          </a:p>
          <a:p>
            <a:pPr algn="l">
              <a:spcAft>
                <a:spcPts val="0"/>
              </a:spcAft>
            </a:pPr>
            <a:r>
              <a:rPr sz="2400" b="0" dirty="0">
                <a:solidFill>
                  <a:srgbClr val="3A4147"/>
                </a:solidFill>
              </a:rPr>
              <a:t>Long range at low power, with a low data rate</a:t>
            </a:r>
          </a:p>
        </p:txBody>
      </p:sp>
      <p:sp>
        <p:nvSpPr>
          <p:cNvPr id="5" name="Concept 3"/>
          <p:cNvSpPr/>
          <p:nvPr/>
        </p:nvSpPr>
        <p:spPr>
          <a:xfrm>
            <a:off x="932688" y="3429000"/>
            <a:ext cx="5074920" cy="1737360"/>
          </a:xfrm>
          <a:prstGeom prst="roundRect">
            <a:avLst>
              <a:gd name="adj" fmla="val 8000"/>
            </a:avLst>
          </a:prstGeom>
          <a:solidFill>
            <a:srgbClr val="D9EFF3"/>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73152" rIns="228600" bIns="73152" rtlCol="0" anchor="t"/>
          <a:lstStyle/>
          <a:p>
            <a:pPr algn="l">
              <a:spcAft>
                <a:spcPts val="600"/>
              </a:spcAft>
            </a:pPr>
            <a:r>
              <a:rPr sz="2400" b="1" dirty="0">
                <a:solidFill>
                  <a:srgbClr val="00889C"/>
                </a:solidFill>
              </a:rPr>
              <a:t>GPS</a:t>
            </a:r>
          </a:p>
          <a:p>
            <a:pPr algn="l">
              <a:spcAft>
                <a:spcPts val="0"/>
              </a:spcAft>
            </a:pPr>
            <a:r>
              <a:rPr sz="2400" b="0" dirty="0">
                <a:solidFill>
                  <a:srgbClr val="3A4147"/>
                </a:solidFill>
              </a:rPr>
              <a:t>Position calculated from satellite timing signals</a:t>
            </a:r>
          </a:p>
        </p:txBody>
      </p:sp>
      <p:sp>
        <p:nvSpPr>
          <p:cNvPr id="6" name="Concept 4"/>
          <p:cNvSpPr/>
          <p:nvPr/>
        </p:nvSpPr>
        <p:spPr>
          <a:xfrm>
            <a:off x="6281927" y="3429000"/>
            <a:ext cx="5074920" cy="1737360"/>
          </a:xfrm>
          <a:prstGeom prst="roundRect">
            <a:avLst>
              <a:gd name="adj" fmla="val 8000"/>
            </a:avLst>
          </a:prstGeom>
          <a:solidFill>
            <a:srgbClr val="ECE6F3"/>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73152" rIns="228600" bIns="73152" rtlCol="0" anchor="t"/>
          <a:lstStyle/>
          <a:p>
            <a:pPr algn="l">
              <a:spcAft>
                <a:spcPts val="600"/>
              </a:spcAft>
            </a:pPr>
            <a:r>
              <a:rPr sz="2400" b="1" dirty="0">
                <a:solidFill>
                  <a:srgbClr val="6C3D91"/>
                </a:solidFill>
              </a:rPr>
              <a:t>Redundancy</a:t>
            </a:r>
          </a:p>
          <a:p>
            <a:pPr algn="l">
              <a:spcAft>
                <a:spcPts val="0"/>
              </a:spcAft>
            </a:pPr>
            <a:r>
              <a:rPr sz="2400" b="0" dirty="0">
                <a:solidFill>
                  <a:srgbClr val="3A4147"/>
                </a:solidFill>
              </a:rPr>
              <a:t>Send data more than once to reduce the chance of losing contact</a:t>
            </a:r>
          </a:p>
        </p:txBody>
      </p:sp>
    </p:spTree>
    <p:extLst>
      <p:ext uri="{BB962C8B-B14F-4D97-AF65-F5344CB8AC3E}">
        <p14:creationId xmlns:p14="http://schemas.microsoft.com/office/powerpoint/2010/main" val="1875593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1E416-87AD-24D6-8EAA-67D01701E4F3}"/>
              </a:ext>
            </a:extLst>
          </p:cNvPr>
          <p:cNvSpPr>
            <a:spLocks noGrp="1"/>
          </p:cNvSpPr>
          <p:nvPr>
            <p:ph type="title"/>
          </p:nvPr>
        </p:nvSpPr>
        <p:spPr>
          <a:xfrm>
            <a:off x="841248" y="320040"/>
            <a:ext cx="10515600" cy="914400"/>
          </a:xfrm>
        </p:spPr>
        <p:txBody>
          <a:bodyPr anchor="ctr"/>
          <a:lstStyle/>
          <a:p>
            <a:r>
              <a:rPr sz="3600" b="1">
                <a:solidFill>
                  <a:srgbClr val="6C3D91"/>
                </a:solidFill>
              </a:rPr>
              <a:t>The artefact</a:t>
            </a:r>
            <a:endParaRPr lang="en-US" dirty="0">
              <a:solidFill>
                <a:srgbClr val="6F298C"/>
              </a:solidFill>
            </a:endParaRPr>
          </a:p>
        </p:txBody>
      </p:sp>
      <p:sp>
        <p:nvSpPr>
          <p:cNvPr id="3" name="Airborne label"/>
          <p:cNvSpPr txBox="1"/>
          <p:nvPr/>
        </p:nvSpPr>
        <p:spPr>
          <a:xfrm>
            <a:off x="871341" y="1903511"/>
            <a:ext cx="1615827" cy="307777"/>
          </a:xfrm>
          <a:prstGeom prst="rect">
            <a:avLst/>
          </a:prstGeom>
          <a:noFill/>
        </p:spPr>
        <p:txBody>
          <a:bodyPr wrap="square" lIns="0" tIns="0" rIns="0" bIns="0" anchor="ctr">
            <a:spAutoFit/>
          </a:bodyPr>
          <a:lstStyle/>
          <a:p>
            <a:pPr algn="l"/>
            <a:r>
              <a:rPr sz="2000" b="1" dirty="0">
                <a:solidFill>
                  <a:srgbClr val="6C3D91"/>
                </a:solidFill>
              </a:rPr>
              <a:t>Airborne</a:t>
            </a:r>
          </a:p>
        </p:txBody>
      </p:sp>
      <p:sp>
        <p:nvSpPr>
          <p:cNvPr id="4" name="Ground label"/>
          <p:cNvSpPr txBox="1"/>
          <p:nvPr/>
        </p:nvSpPr>
        <p:spPr>
          <a:xfrm>
            <a:off x="871341" y="3474720"/>
            <a:ext cx="1615827" cy="640080"/>
          </a:xfrm>
          <a:prstGeom prst="rect">
            <a:avLst/>
          </a:prstGeom>
          <a:noFill/>
        </p:spPr>
        <p:txBody>
          <a:bodyPr wrap="square" lIns="0" tIns="0" rIns="0" bIns="0" anchor="ctr">
            <a:spAutoFit/>
          </a:bodyPr>
          <a:lstStyle/>
          <a:p>
            <a:pPr algn="l"/>
            <a:r>
              <a:rPr sz="2000" b="1">
                <a:solidFill>
                  <a:srgbClr val="00889C"/>
                </a:solidFill>
              </a:rPr>
              <a:t>Ground station</a:t>
            </a:r>
          </a:p>
        </p:txBody>
      </p:sp>
      <p:sp>
        <p:nvSpPr>
          <p:cNvPr id="5" name="Airborne block 1"/>
          <p:cNvSpPr/>
          <p:nvPr/>
        </p:nvSpPr>
        <p:spPr>
          <a:xfrm>
            <a:off x="2572370" y="1600200"/>
            <a:ext cx="2091070" cy="914400"/>
          </a:xfrm>
          <a:prstGeom prst="roundRect">
            <a:avLst>
              <a:gd name="adj" fmla="val 8000"/>
            </a:avLst>
          </a:prstGeom>
          <a:solidFill>
            <a:srgbClr val="ECE6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0"/>
              </a:spcAft>
            </a:pPr>
            <a:r>
              <a:rPr sz="2000" b="1">
                <a:solidFill>
                  <a:srgbClr val="6C3D91"/>
                </a:solidFill>
              </a:rPr>
              <a:t>Uputronics GPS</a:t>
            </a:r>
          </a:p>
        </p:txBody>
      </p:sp>
      <p:sp>
        <p:nvSpPr>
          <p:cNvPr id="6" name="Ground block 1"/>
          <p:cNvSpPr/>
          <p:nvPr/>
        </p:nvSpPr>
        <p:spPr>
          <a:xfrm>
            <a:off x="2572370" y="3337560"/>
            <a:ext cx="2091070" cy="914400"/>
          </a:xfrm>
          <a:prstGeom prst="roundRect">
            <a:avLst>
              <a:gd name="adj" fmla="val 8000"/>
            </a:avLst>
          </a:prstGeom>
          <a:solidFill>
            <a:srgbClr val="D9EF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0"/>
              </a:spcAft>
            </a:pPr>
            <a:r>
              <a:rPr sz="2000" b="1">
                <a:solidFill>
                  <a:srgbClr val="00889C"/>
                </a:solidFill>
              </a:rPr>
              <a:t>Logging computer</a:t>
            </a:r>
          </a:p>
        </p:txBody>
      </p:sp>
      <p:sp>
        <p:nvSpPr>
          <p:cNvPr id="7" name="Airborne block 2"/>
          <p:cNvSpPr/>
          <p:nvPr/>
        </p:nvSpPr>
        <p:spPr>
          <a:xfrm>
            <a:off x="4949810" y="1600200"/>
            <a:ext cx="2091070" cy="914400"/>
          </a:xfrm>
          <a:prstGeom prst="roundRect">
            <a:avLst>
              <a:gd name="adj" fmla="val 8000"/>
            </a:avLst>
          </a:prstGeom>
          <a:solidFill>
            <a:srgbClr val="ECE6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0"/>
              </a:spcAft>
            </a:pPr>
            <a:r>
              <a:rPr sz="2000" b="1">
                <a:solidFill>
                  <a:srgbClr val="6C3D91"/>
                </a:solidFill>
              </a:rPr>
              <a:t>Raspberry Pi Zero</a:t>
            </a:r>
          </a:p>
        </p:txBody>
      </p:sp>
      <p:sp>
        <p:nvSpPr>
          <p:cNvPr id="8" name="Ground block 2"/>
          <p:cNvSpPr/>
          <p:nvPr/>
        </p:nvSpPr>
        <p:spPr>
          <a:xfrm>
            <a:off x="4949810" y="3337560"/>
            <a:ext cx="2091070" cy="914400"/>
          </a:xfrm>
          <a:prstGeom prst="roundRect">
            <a:avLst>
              <a:gd name="adj" fmla="val 8000"/>
            </a:avLst>
          </a:prstGeom>
          <a:solidFill>
            <a:srgbClr val="D9EF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0"/>
              </a:spcAft>
            </a:pPr>
            <a:r>
              <a:rPr sz="2000" b="1">
                <a:solidFill>
                  <a:srgbClr val="00889C"/>
                </a:solidFill>
              </a:rPr>
              <a:t>Arduino Uno</a:t>
            </a:r>
          </a:p>
        </p:txBody>
      </p:sp>
      <p:sp>
        <p:nvSpPr>
          <p:cNvPr id="9" name="Airborne block 3"/>
          <p:cNvSpPr/>
          <p:nvPr/>
        </p:nvSpPr>
        <p:spPr>
          <a:xfrm>
            <a:off x="7327250" y="1600200"/>
            <a:ext cx="2091070" cy="914400"/>
          </a:xfrm>
          <a:prstGeom prst="roundRect">
            <a:avLst>
              <a:gd name="adj" fmla="val 8000"/>
            </a:avLst>
          </a:prstGeom>
          <a:solidFill>
            <a:srgbClr val="ECE6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0"/>
              </a:spcAft>
            </a:pPr>
            <a:r>
              <a:rPr sz="2000" b="1">
                <a:solidFill>
                  <a:srgbClr val="6C3D91"/>
                </a:solidFill>
              </a:rPr>
              <a:t>NTX2 transmitter</a:t>
            </a:r>
          </a:p>
        </p:txBody>
      </p:sp>
      <p:sp>
        <p:nvSpPr>
          <p:cNvPr id="10" name="Ground block 3"/>
          <p:cNvSpPr/>
          <p:nvPr/>
        </p:nvSpPr>
        <p:spPr>
          <a:xfrm>
            <a:off x="7327250" y="3337560"/>
            <a:ext cx="2091070" cy="914400"/>
          </a:xfrm>
          <a:prstGeom prst="roundRect">
            <a:avLst>
              <a:gd name="adj" fmla="val 8000"/>
            </a:avLst>
          </a:prstGeom>
          <a:solidFill>
            <a:srgbClr val="D9EF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0"/>
              </a:spcAft>
            </a:pPr>
            <a:r>
              <a:rPr sz="2000" b="1">
                <a:solidFill>
                  <a:srgbClr val="00889C"/>
                </a:solidFill>
              </a:rPr>
              <a:t>NRX2 receiver</a:t>
            </a:r>
          </a:p>
        </p:txBody>
      </p:sp>
      <p:sp>
        <p:nvSpPr>
          <p:cNvPr id="11" name="Arrow"/>
          <p:cNvSpPr/>
          <p:nvPr/>
        </p:nvSpPr>
        <p:spPr>
          <a:xfrm>
            <a:off x="4663440" y="1938528"/>
            <a:ext cx="320040" cy="256032"/>
          </a:xfrm>
          <a:prstGeom prst="rightArrow">
            <a:avLst/>
          </a:prstGeom>
          <a:solidFill>
            <a:srgbClr val="6C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Arrow"/>
          <p:cNvSpPr/>
          <p:nvPr/>
        </p:nvSpPr>
        <p:spPr>
          <a:xfrm>
            <a:off x="7040880" y="1938528"/>
            <a:ext cx="320040" cy="256032"/>
          </a:xfrm>
          <a:prstGeom prst="rightArrow">
            <a:avLst/>
          </a:prstGeom>
          <a:solidFill>
            <a:srgbClr val="6C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Arrow"/>
          <p:cNvSpPr/>
          <p:nvPr/>
        </p:nvSpPr>
        <p:spPr>
          <a:xfrm>
            <a:off x="7040880" y="3675887"/>
            <a:ext cx="320040" cy="256032"/>
          </a:xfrm>
          <a:prstGeom prst="leftArrow">
            <a:avLst/>
          </a:prstGeom>
          <a:solidFill>
            <a:srgbClr val="0088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Arrow"/>
          <p:cNvSpPr/>
          <p:nvPr/>
        </p:nvSpPr>
        <p:spPr>
          <a:xfrm>
            <a:off x="4663440" y="3675887"/>
            <a:ext cx="320040" cy="256032"/>
          </a:xfrm>
          <a:prstGeom prst="leftArrow">
            <a:avLst/>
          </a:prstGeom>
          <a:solidFill>
            <a:srgbClr val="0088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Arrow"/>
          <p:cNvSpPr/>
          <p:nvPr/>
        </p:nvSpPr>
        <p:spPr>
          <a:xfrm>
            <a:off x="8229600" y="2606040"/>
            <a:ext cx="365760" cy="640080"/>
          </a:xfrm>
          <a:prstGeom prst="downArrow">
            <a:avLst/>
          </a:prstGeom>
          <a:solidFill>
            <a:srgbClr val="6C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Link label"/>
          <p:cNvSpPr txBox="1"/>
          <p:nvPr/>
        </p:nvSpPr>
        <p:spPr>
          <a:xfrm>
            <a:off x="8624261" y="2772191"/>
            <a:ext cx="2851459" cy="307777"/>
          </a:xfrm>
          <a:prstGeom prst="rect">
            <a:avLst/>
          </a:prstGeom>
          <a:noFill/>
        </p:spPr>
        <p:txBody>
          <a:bodyPr wrap="square" lIns="0" tIns="0" rIns="0" bIns="0" anchor="ctr">
            <a:spAutoFit/>
          </a:bodyPr>
          <a:lstStyle/>
          <a:p>
            <a:pPr algn="l"/>
            <a:r>
              <a:rPr sz="2000" b="1">
                <a:solidFill>
                  <a:srgbClr val="3A4147"/>
                </a:solidFill>
              </a:rPr>
              <a:t>434.65 MHz UHF</a:t>
            </a:r>
          </a:p>
        </p:txBody>
      </p:sp>
      <p:sp>
        <p:nvSpPr>
          <p:cNvPr id="17" name="Frame label"/>
          <p:cNvSpPr txBox="1"/>
          <p:nvPr/>
        </p:nvSpPr>
        <p:spPr>
          <a:xfrm>
            <a:off x="871341" y="4692431"/>
            <a:ext cx="1615827" cy="307777"/>
          </a:xfrm>
          <a:prstGeom prst="rect">
            <a:avLst/>
          </a:prstGeom>
          <a:noFill/>
        </p:spPr>
        <p:txBody>
          <a:bodyPr wrap="square" lIns="0" tIns="0" rIns="0" bIns="0" anchor="ctr">
            <a:spAutoFit/>
          </a:bodyPr>
          <a:lstStyle/>
          <a:p>
            <a:pPr algn="l"/>
            <a:r>
              <a:rPr sz="2000" b="1">
                <a:solidFill>
                  <a:srgbClr val="6C3D91"/>
                </a:solidFill>
              </a:rPr>
              <a:t>Frame</a:t>
            </a:r>
          </a:p>
        </p:txBody>
      </p:sp>
      <p:sp>
        <p:nvSpPr>
          <p:cNvPr id="18" name="Frame cell Preamble"/>
          <p:cNvSpPr/>
          <p:nvPr/>
        </p:nvSpPr>
        <p:spPr>
          <a:xfrm>
            <a:off x="2506307" y="4617720"/>
            <a:ext cx="1279309" cy="457200"/>
          </a:xfrm>
          <a:prstGeom prst="rect">
            <a:avLst/>
          </a:prstGeom>
          <a:solidFill>
            <a:srgbClr val="ECE6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73152" rIns="45720" bIns="73152" rtlCol="0" anchor="ctr"/>
          <a:lstStyle/>
          <a:p>
            <a:pPr algn="ctr">
              <a:spcAft>
                <a:spcPts val="0"/>
              </a:spcAft>
            </a:pPr>
            <a:r>
              <a:rPr sz="2000" b="1" dirty="0">
                <a:solidFill>
                  <a:srgbClr val="3A4147"/>
                </a:solidFill>
              </a:rPr>
              <a:t>Preamble</a:t>
            </a:r>
          </a:p>
        </p:txBody>
      </p:sp>
      <p:sp>
        <p:nvSpPr>
          <p:cNvPr id="19" name="Frame cell Sync"/>
          <p:cNvSpPr/>
          <p:nvPr/>
        </p:nvSpPr>
        <p:spPr>
          <a:xfrm>
            <a:off x="3808364" y="4617720"/>
            <a:ext cx="845932" cy="457200"/>
          </a:xfrm>
          <a:prstGeom prst="rect">
            <a:avLst/>
          </a:prstGeom>
          <a:solidFill>
            <a:srgbClr val="ECE6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73152" rIns="45720" bIns="73152" rtlCol="0" anchor="ctr"/>
          <a:lstStyle/>
          <a:p>
            <a:pPr algn="ctr">
              <a:spcAft>
                <a:spcPts val="0"/>
              </a:spcAft>
            </a:pPr>
            <a:r>
              <a:rPr sz="2000" b="1">
                <a:solidFill>
                  <a:srgbClr val="3A4147"/>
                </a:solidFill>
              </a:rPr>
              <a:t>Sync</a:t>
            </a:r>
          </a:p>
        </p:txBody>
      </p:sp>
      <p:sp>
        <p:nvSpPr>
          <p:cNvPr id="20" name="Frame cell Length"/>
          <p:cNvSpPr/>
          <p:nvPr/>
        </p:nvSpPr>
        <p:spPr>
          <a:xfrm>
            <a:off x="4673435" y="4617720"/>
            <a:ext cx="940981" cy="457200"/>
          </a:xfrm>
          <a:prstGeom prst="rect">
            <a:avLst/>
          </a:prstGeom>
          <a:solidFill>
            <a:srgbClr val="ECE6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73152" rIns="45720" bIns="73152" rtlCol="0" anchor="ctr"/>
          <a:lstStyle/>
          <a:p>
            <a:pPr algn="ctr">
              <a:spcAft>
                <a:spcPts val="0"/>
              </a:spcAft>
            </a:pPr>
            <a:r>
              <a:rPr sz="2000" b="1">
                <a:solidFill>
                  <a:srgbClr val="3A4147"/>
                </a:solidFill>
              </a:rPr>
              <a:t>Length</a:t>
            </a:r>
          </a:p>
        </p:txBody>
      </p:sp>
      <p:sp>
        <p:nvSpPr>
          <p:cNvPr id="21" name="Frame cell Payload"/>
          <p:cNvSpPr/>
          <p:nvPr/>
        </p:nvSpPr>
        <p:spPr>
          <a:xfrm>
            <a:off x="5577621" y="4617720"/>
            <a:ext cx="2414235" cy="457200"/>
          </a:xfrm>
          <a:prstGeom prst="rect">
            <a:avLst/>
          </a:prstGeom>
          <a:solidFill>
            <a:srgbClr val="D9EF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73152" rIns="45720" bIns="73152" rtlCol="0" anchor="ctr"/>
          <a:lstStyle/>
          <a:p>
            <a:pPr algn="ctr">
              <a:spcAft>
                <a:spcPts val="0"/>
              </a:spcAft>
            </a:pPr>
            <a:r>
              <a:rPr sz="2000" b="1">
                <a:solidFill>
                  <a:srgbClr val="3A4147"/>
                </a:solidFill>
              </a:rPr>
              <a:t>Payload</a:t>
            </a:r>
          </a:p>
        </p:txBody>
      </p:sp>
      <p:sp>
        <p:nvSpPr>
          <p:cNvPr id="22" name="Frame cell CRC"/>
          <p:cNvSpPr/>
          <p:nvPr/>
        </p:nvSpPr>
        <p:spPr>
          <a:xfrm>
            <a:off x="8016408" y="4617720"/>
            <a:ext cx="798408" cy="457200"/>
          </a:xfrm>
          <a:prstGeom prst="rect">
            <a:avLst/>
          </a:prstGeom>
          <a:solidFill>
            <a:srgbClr val="ECE6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73152" rIns="45720" bIns="73152" rtlCol="0" anchor="ctr"/>
          <a:lstStyle/>
          <a:p>
            <a:pPr algn="ctr">
              <a:spcAft>
                <a:spcPts val="0"/>
              </a:spcAft>
            </a:pPr>
            <a:r>
              <a:rPr sz="2000" b="1">
                <a:solidFill>
                  <a:srgbClr val="3A4147"/>
                </a:solidFill>
              </a:rPr>
              <a:t>CRC</a:t>
            </a:r>
          </a:p>
        </p:txBody>
      </p:sp>
      <p:sp>
        <p:nvSpPr>
          <p:cNvPr id="23" name="Copies note"/>
          <p:cNvSpPr txBox="1"/>
          <p:nvPr/>
        </p:nvSpPr>
        <p:spPr>
          <a:xfrm>
            <a:off x="9008064" y="4692431"/>
            <a:ext cx="2376216" cy="307777"/>
          </a:xfrm>
          <a:prstGeom prst="rect">
            <a:avLst/>
          </a:prstGeom>
          <a:noFill/>
        </p:spPr>
        <p:txBody>
          <a:bodyPr wrap="square" lIns="0" tIns="0" rIns="0" bIns="0" anchor="ctr">
            <a:spAutoFit/>
          </a:bodyPr>
          <a:lstStyle/>
          <a:p>
            <a:pPr algn="l"/>
            <a:r>
              <a:rPr sz="2000" b="1">
                <a:solidFill>
                  <a:srgbClr val="3A4147"/>
                </a:solidFill>
              </a:rPr>
              <a:t>6 copies, every 60 s</a:t>
            </a:r>
          </a:p>
        </p:txBody>
      </p:sp>
    </p:spTree>
    <p:extLst>
      <p:ext uri="{BB962C8B-B14F-4D97-AF65-F5344CB8AC3E}">
        <p14:creationId xmlns:p14="http://schemas.microsoft.com/office/powerpoint/2010/main" val="1875593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1E416-87AD-24D6-8EAA-67D01701E4F3}"/>
              </a:ext>
            </a:extLst>
          </p:cNvPr>
          <p:cNvSpPr>
            <a:spLocks noGrp="1"/>
          </p:cNvSpPr>
          <p:nvPr>
            <p:ph type="title"/>
          </p:nvPr>
        </p:nvSpPr>
        <p:spPr>
          <a:xfrm>
            <a:off x="841248" y="320040"/>
            <a:ext cx="10515600" cy="914400"/>
          </a:xfrm>
        </p:spPr>
        <p:txBody>
          <a:bodyPr anchor="ctr"/>
          <a:lstStyle/>
          <a:p>
            <a:r>
              <a:rPr sz="3600" b="1">
                <a:solidFill>
                  <a:srgbClr val="6C3D91"/>
                </a:solidFill>
              </a:rPr>
              <a:t>Demonstration: flight log excerpts</a:t>
            </a:r>
            <a:endParaRPr lang="en-US" dirty="0">
              <a:solidFill>
                <a:srgbClr val="6F298C"/>
              </a:solidFill>
            </a:endParaRPr>
          </a:p>
        </p:txBody>
      </p:sp>
      <p:sp>
        <p:nvSpPr>
          <p:cNvPr id="3" name="Tx heading"/>
          <p:cNvSpPr txBox="1"/>
          <p:nvPr/>
        </p:nvSpPr>
        <p:spPr>
          <a:xfrm>
            <a:off x="932688" y="1371600"/>
            <a:ext cx="5577840" cy="365760"/>
          </a:xfrm>
          <a:prstGeom prst="rect">
            <a:avLst/>
          </a:prstGeom>
          <a:noFill/>
        </p:spPr>
        <p:txBody>
          <a:bodyPr wrap="square" lIns="0" tIns="0" rIns="0" bIns="0" anchor="t">
            <a:spAutoFit/>
          </a:bodyPr>
          <a:lstStyle/>
          <a:p>
            <a:pPr algn="l"/>
            <a:r>
              <a:rPr sz="2400" b="1" dirty="0">
                <a:solidFill>
                  <a:srgbClr val="6C3D91"/>
                </a:solidFill>
              </a:rPr>
              <a:t>Transmitter log (Raspberry Pi Zero)</a:t>
            </a:r>
          </a:p>
        </p:txBody>
      </p:sp>
      <p:sp>
        <p:nvSpPr>
          <p:cNvPr id="4" name="Rx heading"/>
          <p:cNvSpPr txBox="1"/>
          <p:nvPr/>
        </p:nvSpPr>
        <p:spPr>
          <a:xfrm>
            <a:off x="6766560" y="1371600"/>
            <a:ext cx="4572000" cy="365760"/>
          </a:xfrm>
          <a:prstGeom prst="rect">
            <a:avLst/>
          </a:prstGeom>
          <a:noFill/>
        </p:spPr>
        <p:txBody>
          <a:bodyPr wrap="square" lIns="0" tIns="0" rIns="0" bIns="0" anchor="t">
            <a:spAutoFit/>
          </a:bodyPr>
          <a:lstStyle/>
          <a:p>
            <a:pPr algn="l"/>
            <a:r>
              <a:rPr sz="2400" b="1">
                <a:solidFill>
                  <a:srgbClr val="00889C"/>
                </a:solidFill>
              </a:rPr>
              <a:t>Ground-station log (decoded)</a:t>
            </a:r>
          </a:p>
        </p:txBody>
      </p:sp>
      <p:sp>
        <p:nvSpPr>
          <p:cNvPr id="5" name="Transmitter panel"/>
          <p:cNvSpPr/>
          <p:nvPr/>
        </p:nvSpPr>
        <p:spPr>
          <a:xfrm>
            <a:off x="932688" y="1828800"/>
            <a:ext cx="5577840" cy="2286000"/>
          </a:xfrm>
          <a:prstGeom prst="roundRect">
            <a:avLst>
              <a:gd name="adj" fmla="val 8000"/>
            </a:avLst>
          </a:prstGeom>
          <a:solidFill>
            <a:srgbClr val="2B2F3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73152" rIns="182880" bIns="73152" rtlCol="0" anchor="ctr"/>
          <a:lstStyle/>
          <a:p>
            <a:pPr algn="l">
              <a:spcAft>
                <a:spcPts val="600"/>
              </a:spcAft>
            </a:pPr>
            <a:r>
              <a:rPr sz="1400" b="0" dirty="0">
                <a:solidFill>
                  <a:srgbClr val="9FB4BC"/>
                </a:solidFill>
                <a:latin typeface="Courier New"/>
              </a:rPr>
              <a:t>time      </a:t>
            </a:r>
            <a:r>
              <a:rPr sz="1400" b="0" dirty="0" err="1">
                <a:solidFill>
                  <a:srgbClr val="9FB4BC"/>
                </a:solidFill>
                <a:latin typeface="Courier New"/>
              </a:rPr>
              <a:t>packet,lat,lon,alt,fix</a:t>
            </a:r>
            <a:r>
              <a:rPr sz="1400" b="0" dirty="0">
                <a:solidFill>
                  <a:srgbClr val="9FB4BC"/>
                </a:solidFill>
                <a:latin typeface="Courier New"/>
              </a:rPr>
              <a:t>  x6</a:t>
            </a:r>
          </a:p>
          <a:p>
            <a:pPr algn="l">
              <a:spcAft>
                <a:spcPts val="400"/>
              </a:spcAft>
            </a:pPr>
            <a:r>
              <a:rPr sz="1400" b="0" dirty="0">
                <a:solidFill>
                  <a:srgbClr val="FFFFFF"/>
                </a:solidFill>
                <a:latin typeface="Courier New"/>
              </a:rPr>
              <a:t>11:15:52  45,-26.89101,27.21973,4729,091543</a:t>
            </a:r>
          </a:p>
          <a:p>
            <a:pPr algn="l">
              <a:spcAft>
                <a:spcPts val="400"/>
              </a:spcAft>
            </a:pPr>
            <a:r>
              <a:rPr sz="1400" b="0" dirty="0">
                <a:solidFill>
                  <a:srgbClr val="FFFFFF"/>
                </a:solidFill>
                <a:latin typeface="Courier New"/>
              </a:rPr>
              <a:t>11:16:52  46,-26.88520,27.22386,4937,091643</a:t>
            </a:r>
          </a:p>
          <a:p>
            <a:pPr algn="l">
              <a:spcAft>
                <a:spcPts val="400"/>
              </a:spcAft>
            </a:pPr>
            <a:r>
              <a:rPr sz="1400" b="0" dirty="0">
                <a:solidFill>
                  <a:srgbClr val="FFFFFF"/>
                </a:solidFill>
                <a:latin typeface="Courier New"/>
              </a:rPr>
              <a:t>11:17:52  47,-26.87959,27.22854,5160,091743</a:t>
            </a:r>
          </a:p>
          <a:p>
            <a:pPr algn="l">
              <a:spcAft>
                <a:spcPts val="400"/>
              </a:spcAft>
            </a:pPr>
            <a:r>
              <a:rPr sz="1400" b="0" dirty="0">
                <a:solidFill>
                  <a:srgbClr val="FFFFFF"/>
                </a:solidFill>
                <a:latin typeface="Courier New"/>
              </a:rPr>
              <a:t>11:18:52  48,-26.87543,27.23294,5360,091836</a:t>
            </a:r>
          </a:p>
        </p:txBody>
      </p:sp>
      <p:sp>
        <p:nvSpPr>
          <p:cNvPr id="6" name="Receiver panel"/>
          <p:cNvSpPr/>
          <p:nvPr/>
        </p:nvSpPr>
        <p:spPr>
          <a:xfrm>
            <a:off x="6766560" y="1828800"/>
            <a:ext cx="4572000" cy="2286000"/>
          </a:xfrm>
          <a:prstGeom prst="roundRect">
            <a:avLst>
              <a:gd name="adj" fmla="val 8000"/>
            </a:avLst>
          </a:prstGeom>
          <a:solidFill>
            <a:srgbClr val="2B2F33"/>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73152" rIns="182880" bIns="73152" rtlCol="0" anchor="ctr"/>
          <a:lstStyle/>
          <a:p>
            <a:pPr algn="l">
              <a:spcAft>
                <a:spcPts val="600"/>
              </a:spcAft>
            </a:pPr>
            <a:r>
              <a:rPr sz="1400" b="0">
                <a:solidFill>
                  <a:srgbClr val="9FB4BC"/>
                </a:solidFill>
                <a:latin typeface="Courier New"/>
              </a:rPr>
              <a:t>packet  alt(m)  copies   RSSI(mV)</a:t>
            </a:r>
          </a:p>
          <a:p>
            <a:pPr algn="l">
              <a:spcAft>
                <a:spcPts val="400"/>
              </a:spcAft>
            </a:pPr>
            <a:r>
              <a:rPr sz="1400" b="0">
                <a:solidFill>
                  <a:srgbClr val="FFD07A"/>
                </a:solidFill>
                <a:latin typeface="Courier New"/>
              </a:rPr>
              <a:t>    45    4729   3/6          938</a:t>
            </a:r>
          </a:p>
          <a:p>
            <a:pPr algn="l">
              <a:spcAft>
                <a:spcPts val="400"/>
              </a:spcAft>
            </a:pPr>
            <a:r>
              <a:rPr sz="1400" b="0">
                <a:solidFill>
                  <a:srgbClr val="FFD07A"/>
                </a:solidFill>
                <a:latin typeface="Courier New"/>
              </a:rPr>
              <a:t>    46    4937   3/6         1251</a:t>
            </a:r>
          </a:p>
          <a:p>
            <a:pPr algn="l">
              <a:spcAft>
                <a:spcPts val="400"/>
              </a:spcAft>
            </a:pPr>
            <a:r>
              <a:rPr sz="1400" b="0">
                <a:solidFill>
                  <a:srgbClr val="FFD07A"/>
                </a:solidFill>
                <a:latin typeface="Courier New"/>
              </a:rPr>
              <a:t>    47    5160   2/6         1031</a:t>
            </a:r>
          </a:p>
          <a:p>
            <a:pPr algn="l">
              <a:spcAft>
                <a:spcPts val="400"/>
              </a:spcAft>
            </a:pPr>
            <a:r>
              <a:rPr sz="1400" b="0">
                <a:solidFill>
                  <a:srgbClr val="FFFFFF"/>
                </a:solidFill>
                <a:latin typeface="Courier New"/>
              </a:rPr>
              <a:t>    48    5360   6/6         1153</a:t>
            </a:r>
          </a:p>
        </p:txBody>
      </p:sp>
      <p:sp>
        <p:nvSpPr>
          <p:cNvPr id="7" name="Demo caption"/>
          <p:cNvSpPr txBox="1"/>
          <p:nvPr/>
        </p:nvSpPr>
        <p:spPr>
          <a:xfrm>
            <a:off x="932688" y="4389120"/>
            <a:ext cx="10424160" cy="738664"/>
          </a:xfrm>
          <a:prstGeom prst="rect">
            <a:avLst/>
          </a:prstGeom>
          <a:noFill/>
        </p:spPr>
        <p:txBody>
          <a:bodyPr wrap="square" lIns="0" tIns="0" rIns="0" bIns="0" anchor="t">
            <a:spAutoFit/>
          </a:bodyPr>
          <a:lstStyle/>
          <a:p>
            <a:pPr algn="l"/>
            <a:r>
              <a:rPr sz="2400" b="0">
                <a:solidFill>
                  <a:srgbClr val="3A4147"/>
                </a:solidFill>
              </a:rPr>
              <a:t>Every packet is sent as six copies. Packet 47 reached the ground station with only 2 of 6 copies and was still decoded.</a:t>
            </a:r>
          </a:p>
        </p:txBody>
      </p:sp>
    </p:spTree>
    <p:extLst>
      <p:ext uri="{BB962C8B-B14F-4D97-AF65-F5344CB8AC3E}">
        <p14:creationId xmlns:p14="http://schemas.microsoft.com/office/powerpoint/2010/main" val="1875593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1E416-87AD-24D6-8EAA-67D01701E4F3}"/>
              </a:ext>
            </a:extLst>
          </p:cNvPr>
          <p:cNvSpPr>
            <a:spLocks noGrp="1"/>
          </p:cNvSpPr>
          <p:nvPr>
            <p:ph type="title"/>
          </p:nvPr>
        </p:nvSpPr>
        <p:spPr>
          <a:xfrm>
            <a:off x="841248" y="320040"/>
            <a:ext cx="10515600" cy="914400"/>
          </a:xfrm>
        </p:spPr>
        <p:txBody>
          <a:bodyPr anchor="ctr"/>
          <a:lstStyle/>
          <a:p>
            <a:r>
              <a:rPr sz="3600" b="1" dirty="0">
                <a:solidFill>
                  <a:srgbClr val="6C3D91"/>
                </a:solidFill>
              </a:rPr>
              <a:t>Results</a:t>
            </a:r>
            <a:endParaRPr lang="en-US" dirty="0">
              <a:solidFill>
                <a:srgbClr val="6F298C"/>
              </a:solidFill>
            </a:endParaRPr>
          </a:p>
        </p:txBody>
      </p:sp>
      <p:pic>
        <p:nvPicPr>
          <p:cNvPr id="3" name="Flight altitude figure" descr="flight_altitude.png"/>
          <p:cNvPicPr>
            <a:picLocks noChangeAspect="1"/>
          </p:cNvPicPr>
          <p:nvPr/>
        </p:nvPicPr>
        <p:blipFill>
          <a:blip r:embed="rId4"/>
          <a:stretch>
            <a:fillRect/>
          </a:stretch>
        </p:blipFill>
        <p:spPr>
          <a:xfrm>
            <a:off x="475487" y="1234440"/>
            <a:ext cx="5779397" cy="4623518"/>
          </a:xfrm>
          <a:prstGeom prst="rect">
            <a:avLst/>
          </a:prstGeom>
        </p:spPr>
      </p:pic>
      <p:sp>
        <p:nvSpPr>
          <p:cNvPr id="4" name="Result tile 1"/>
          <p:cNvSpPr/>
          <p:nvPr/>
        </p:nvSpPr>
        <p:spPr>
          <a:xfrm>
            <a:off x="6367273" y="1400862"/>
            <a:ext cx="2560320" cy="1645920"/>
          </a:xfrm>
          <a:prstGeom prst="roundRect">
            <a:avLst>
              <a:gd name="adj" fmla="val 8000"/>
            </a:avLst>
          </a:prstGeom>
          <a:solidFill>
            <a:srgbClr val="ECE6F3"/>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l">
              <a:spcAft>
                <a:spcPts val="0"/>
              </a:spcAft>
            </a:pPr>
            <a:r>
              <a:rPr sz="2400" b="1" dirty="0">
                <a:solidFill>
                  <a:srgbClr val="6C3D91"/>
                </a:solidFill>
              </a:rPr>
              <a:t>5.4 km</a:t>
            </a:r>
          </a:p>
          <a:p>
            <a:pPr algn="l">
              <a:spcAft>
                <a:spcPts val="0"/>
              </a:spcAft>
            </a:pPr>
            <a:r>
              <a:rPr sz="2400" b="0" dirty="0">
                <a:solidFill>
                  <a:srgbClr val="3A4147"/>
                </a:solidFill>
              </a:rPr>
              <a:t>altitude reached, at </a:t>
            </a:r>
            <a:r>
              <a:rPr sz="2400" b="1" dirty="0">
                <a:solidFill>
                  <a:srgbClr val="6C3D91"/>
                </a:solidFill>
              </a:rPr>
              <a:t>7.2 km</a:t>
            </a:r>
            <a:r>
              <a:rPr sz="2400" b="0" dirty="0">
                <a:solidFill>
                  <a:srgbClr val="3A4147"/>
                </a:solidFill>
              </a:rPr>
              <a:t> distance</a:t>
            </a:r>
          </a:p>
        </p:txBody>
      </p:sp>
      <p:sp>
        <p:nvSpPr>
          <p:cNvPr id="5" name="Result tile 2"/>
          <p:cNvSpPr/>
          <p:nvPr/>
        </p:nvSpPr>
        <p:spPr>
          <a:xfrm>
            <a:off x="9156192" y="1400862"/>
            <a:ext cx="2560320" cy="1645920"/>
          </a:xfrm>
          <a:prstGeom prst="roundRect">
            <a:avLst>
              <a:gd name="adj" fmla="val 8000"/>
            </a:avLst>
          </a:prstGeom>
          <a:solidFill>
            <a:srgbClr val="D9EFF3"/>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l">
              <a:spcAft>
                <a:spcPts val="0"/>
              </a:spcAft>
            </a:pPr>
            <a:r>
              <a:rPr sz="2400" b="1">
                <a:solidFill>
                  <a:srgbClr val="00889C"/>
                </a:solidFill>
              </a:rPr>
              <a:t>18 / 18</a:t>
            </a:r>
          </a:p>
          <a:p>
            <a:pPr algn="l">
              <a:spcAft>
                <a:spcPts val="0"/>
              </a:spcAft>
            </a:pPr>
            <a:r>
              <a:rPr sz="2400" b="0">
                <a:solidFill>
                  <a:srgbClr val="3A4147"/>
                </a:solidFill>
              </a:rPr>
              <a:t>airborne packets received</a:t>
            </a:r>
          </a:p>
        </p:txBody>
      </p:sp>
      <p:sp>
        <p:nvSpPr>
          <p:cNvPr id="6" name="Result tile 3"/>
          <p:cNvSpPr/>
          <p:nvPr/>
        </p:nvSpPr>
        <p:spPr>
          <a:xfrm>
            <a:off x="6367273" y="3275381"/>
            <a:ext cx="2560320" cy="1645920"/>
          </a:xfrm>
          <a:prstGeom prst="roundRect">
            <a:avLst>
              <a:gd name="adj" fmla="val 8000"/>
            </a:avLst>
          </a:prstGeom>
          <a:solidFill>
            <a:srgbClr val="D9EFF3"/>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l">
              <a:spcAft>
                <a:spcPts val="0"/>
              </a:spcAft>
            </a:pPr>
            <a:r>
              <a:rPr sz="2400" b="1" dirty="0">
                <a:solidFill>
                  <a:srgbClr val="00889C"/>
                </a:solidFill>
              </a:rPr>
              <a:t>98.8%</a:t>
            </a:r>
          </a:p>
          <a:p>
            <a:pPr algn="l">
              <a:spcAft>
                <a:spcPts val="0"/>
              </a:spcAft>
            </a:pPr>
            <a:r>
              <a:rPr sz="2400" b="0" dirty="0">
                <a:solidFill>
                  <a:srgbClr val="3A4147"/>
                </a:solidFill>
              </a:rPr>
              <a:t>of copies received in ground tests</a:t>
            </a:r>
          </a:p>
        </p:txBody>
      </p:sp>
      <p:sp>
        <p:nvSpPr>
          <p:cNvPr id="7" name="Result tile 4"/>
          <p:cNvSpPr/>
          <p:nvPr/>
        </p:nvSpPr>
        <p:spPr>
          <a:xfrm>
            <a:off x="9156192" y="3275381"/>
            <a:ext cx="2560320" cy="1645920"/>
          </a:xfrm>
          <a:prstGeom prst="roundRect">
            <a:avLst>
              <a:gd name="adj" fmla="val 8000"/>
            </a:avLst>
          </a:prstGeom>
          <a:solidFill>
            <a:srgbClr val="ECE6F3"/>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rIns="164592" bIns="73152" rtlCol="0" anchor="ctr"/>
          <a:lstStyle/>
          <a:p>
            <a:pPr algn="l">
              <a:spcAft>
                <a:spcPts val="0"/>
              </a:spcAft>
            </a:pPr>
            <a:r>
              <a:rPr sz="2400" b="1" dirty="0">
                <a:solidFill>
                  <a:srgbClr val="6C3D91"/>
                </a:solidFill>
              </a:rPr>
              <a:t>17.5 min</a:t>
            </a:r>
          </a:p>
          <a:p>
            <a:pPr algn="l">
              <a:spcAft>
                <a:spcPts val="0"/>
              </a:spcAft>
            </a:pPr>
            <a:r>
              <a:rPr sz="2400" b="0" dirty="0">
                <a:solidFill>
                  <a:srgbClr val="3A4147"/>
                </a:solidFill>
              </a:rPr>
              <a:t>of flight data, then the power bank stopped</a:t>
            </a:r>
          </a:p>
        </p:txBody>
      </p:sp>
      <p:sp>
        <p:nvSpPr>
          <p:cNvPr id="8" name="Results footnote"/>
          <p:cNvSpPr txBox="1"/>
          <p:nvPr/>
        </p:nvSpPr>
        <p:spPr>
          <a:xfrm>
            <a:off x="475487" y="5983962"/>
            <a:ext cx="6583680" cy="553998"/>
          </a:xfrm>
          <a:prstGeom prst="rect">
            <a:avLst/>
          </a:prstGeom>
          <a:noFill/>
        </p:spPr>
        <p:txBody>
          <a:bodyPr wrap="square" lIns="0" tIns="0" rIns="0" bIns="0" anchor="t">
            <a:spAutoFit/>
          </a:bodyPr>
          <a:lstStyle/>
          <a:p>
            <a:pPr algn="l"/>
            <a:r>
              <a:rPr b="0" dirty="0">
                <a:solidFill>
                  <a:srgbClr val="3A4147"/>
                </a:solidFill>
              </a:rPr>
              <a:t>Ground tests: GPS position varied 5.6 m on average (51 m maximum). In flight, 85% of individual copies were received.</a:t>
            </a:r>
          </a:p>
        </p:txBody>
      </p:sp>
    </p:spTree>
    <p:extLst>
      <p:ext uri="{BB962C8B-B14F-4D97-AF65-F5344CB8AC3E}">
        <p14:creationId xmlns:p14="http://schemas.microsoft.com/office/powerpoint/2010/main" val="1875593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5940C29-6AE0-1EC0-4548-A27C4485525B}"/>
              </a:ext>
            </a:extLst>
          </p:cNvPr>
          <p:cNvSpPr>
            <a:spLocks noGrp="1"/>
          </p:cNvSpPr>
          <p:nvPr>
            <p:ph type="title"/>
          </p:nvPr>
        </p:nvSpPr>
        <p:spPr>
          <a:xfrm>
            <a:off x="841248" y="320040"/>
            <a:ext cx="10515600" cy="914400"/>
          </a:xfrm>
        </p:spPr>
        <p:txBody>
          <a:bodyPr anchor="ctr"/>
          <a:lstStyle/>
          <a:p>
            <a:r>
              <a:rPr sz="3600" b="1" dirty="0">
                <a:solidFill>
                  <a:srgbClr val="FFFFFF"/>
                </a:solidFill>
              </a:rPr>
              <a:t>Conclusion</a:t>
            </a:r>
            <a:endParaRPr lang="en-US" dirty="0">
              <a:solidFill>
                <a:schemeClr val="bg1"/>
              </a:solidFill>
            </a:endParaRPr>
          </a:p>
        </p:txBody>
      </p:sp>
      <p:sp>
        <p:nvSpPr>
          <p:cNvPr id="11" name="Verdict"/>
          <p:cNvSpPr txBox="1"/>
          <p:nvPr/>
        </p:nvSpPr>
        <p:spPr>
          <a:xfrm>
            <a:off x="932688" y="1280160"/>
            <a:ext cx="10424160" cy="457200"/>
          </a:xfrm>
          <a:prstGeom prst="rect">
            <a:avLst/>
          </a:prstGeom>
          <a:noFill/>
        </p:spPr>
        <p:txBody>
          <a:bodyPr wrap="square" lIns="0" tIns="0" rIns="0" bIns="0" anchor="t">
            <a:spAutoFit/>
          </a:bodyPr>
          <a:lstStyle/>
          <a:p>
            <a:pPr algn="l"/>
            <a:r>
              <a:rPr sz="2400" b="1" dirty="0">
                <a:solidFill>
                  <a:srgbClr val="FFFFFF"/>
                </a:solidFill>
              </a:rPr>
              <a:t>Research question: answered in part</a:t>
            </a:r>
          </a:p>
        </p:txBody>
      </p:sp>
      <p:sp>
        <p:nvSpPr>
          <p:cNvPr id="12" name="Achieved card"/>
          <p:cNvSpPr/>
          <p:nvPr/>
        </p:nvSpPr>
        <p:spPr>
          <a:xfrm>
            <a:off x="932688" y="1920240"/>
            <a:ext cx="5029200" cy="2377440"/>
          </a:xfrm>
          <a:prstGeom prst="roundRect">
            <a:avLst>
              <a:gd name="adj" fmla="val 8000"/>
            </a:avLst>
          </a:prstGeom>
          <a:solidFill>
            <a:srgbClr val="000000">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73152" rIns="228600" bIns="73152" rtlCol="0" anchor="t"/>
          <a:lstStyle/>
          <a:p>
            <a:pPr algn="l">
              <a:spcAft>
                <a:spcPts val="800"/>
              </a:spcAft>
            </a:pPr>
            <a:r>
              <a:rPr sz="2400" b="1" dirty="0">
                <a:solidFill>
                  <a:srgbClr val="FFFFFF"/>
                </a:solidFill>
              </a:rPr>
              <a:t>Achieved</a:t>
            </a:r>
          </a:p>
          <a:p>
            <a:pPr algn="l">
              <a:spcAft>
                <a:spcPts val="600"/>
              </a:spcAft>
            </a:pPr>
            <a:r>
              <a:rPr sz="2400" b="0" dirty="0">
                <a:solidFill>
                  <a:srgbClr val="FFFFFF"/>
                </a:solidFill>
              </a:rPr>
              <a:t>Tracking up to 5.4 km</a:t>
            </a:r>
          </a:p>
          <a:p>
            <a:pPr algn="l">
              <a:spcAft>
                <a:spcPts val="600"/>
              </a:spcAft>
            </a:pPr>
            <a:r>
              <a:rPr sz="2400" b="0" dirty="0">
                <a:solidFill>
                  <a:srgbClr val="FFFFFF"/>
                </a:solidFill>
              </a:rPr>
              <a:t>Every airborne packet received</a:t>
            </a:r>
          </a:p>
          <a:p>
            <a:pPr algn="l">
              <a:spcAft>
                <a:spcPts val="600"/>
              </a:spcAft>
            </a:pPr>
            <a:r>
              <a:rPr sz="2400" b="0" dirty="0">
                <a:solidFill>
                  <a:srgbClr val="FFFFFF"/>
                </a:solidFill>
              </a:rPr>
              <a:t>Tested prototype of both link ends</a:t>
            </a:r>
          </a:p>
        </p:txBody>
      </p:sp>
      <p:sp>
        <p:nvSpPr>
          <p:cNvPr id="13" name="Not shown card"/>
          <p:cNvSpPr/>
          <p:nvPr/>
        </p:nvSpPr>
        <p:spPr>
          <a:xfrm>
            <a:off x="6309360" y="1920240"/>
            <a:ext cx="5029200" cy="2377440"/>
          </a:xfrm>
          <a:prstGeom prst="roundRect">
            <a:avLst>
              <a:gd name="adj" fmla="val 8000"/>
            </a:avLst>
          </a:prstGeom>
          <a:solidFill>
            <a:srgbClr val="000000">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73152" rIns="228600" bIns="73152" rtlCol="0" anchor="t"/>
          <a:lstStyle/>
          <a:p>
            <a:pPr algn="l">
              <a:spcAft>
                <a:spcPts val="800"/>
              </a:spcAft>
            </a:pPr>
            <a:r>
              <a:rPr sz="2400" b="1" dirty="0">
                <a:solidFill>
                  <a:srgbClr val="FFFFFF"/>
                </a:solidFill>
              </a:rPr>
              <a:t>Not yet shown</a:t>
            </a:r>
          </a:p>
          <a:p>
            <a:pPr algn="l">
              <a:spcAft>
                <a:spcPts val="600"/>
              </a:spcAft>
            </a:pPr>
            <a:r>
              <a:rPr sz="2400" b="0" dirty="0">
                <a:solidFill>
                  <a:srgbClr val="FFFFFF"/>
                </a:solidFill>
              </a:rPr>
              <a:t>Stratospheric altitude</a:t>
            </a:r>
          </a:p>
          <a:p>
            <a:pPr algn="l">
              <a:spcAft>
                <a:spcPts val="600"/>
              </a:spcAft>
            </a:pPr>
            <a:r>
              <a:rPr sz="2400" b="0" dirty="0">
                <a:solidFill>
                  <a:srgbClr val="FFFFFF"/>
                </a:solidFill>
              </a:rPr>
              <a:t>Power consumption</a:t>
            </a:r>
          </a:p>
          <a:p>
            <a:pPr algn="l">
              <a:spcAft>
                <a:spcPts val="600"/>
              </a:spcAft>
            </a:pPr>
            <a:r>
              <a:rPr sz="2400" b="0" dirty="0">
                <a:solidFill>
                  <a:srgbClr val="FFFFFF"/>
                </a:solidFill>
              </a:rPr>
              <a:t>Recovery using this system</a:t>
            </a:r>
          </a:p>
        </p:txBody>
      </p:sp>
      <p:sp>
        <p:nvSpPr>
          <p:cNvPr id="14" name="Next step card"/>
          <p:cNvSpPr/>
          <p:nvPr/>
        </p:nvSpPr>
        <p:spPr>
          <a:xfrm>
            <a:off x="932688" y="4526280"/>
            <a:ext cx="10405872" cy="868680"/>
          </a:xfrm>
          <a:prstGeom prst="roundRect">
            <a:avLst>
              <a:gd name="adj" fmla="val 8000"/>
            </a:avLst>
          </a:prstGeom>
          <a:solidFill>
            <a:srgbClr val="000000">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73152" rIns="228600" bIns="73152" rtlCol="0" anchor="ctr"/>
          <a:lstStyle/>
          <a:p>
            <a:pPr algn="l">
              <a:spcAft>
                <a:spcPts val="0"/>
              </a:spcAft>
            </a:pPr>
            <a:r>
              <a:rPr sz="2400" b="1">
                <a:solidFill>
                  <a:srgbClr val="FFFFFF"/>
                </a:solidFill>
              </a:rPr>
              <a:t>Next: repeat flight with a bench-tested power supply, measured current draw and a backup tracker</a:t>
            </a:r>
          </a:p>
        </p:txBody>
      </p:sp>
      <p:sp>
        <p:nvSpPr>
          <p:cNvPr id="15" name="Thanks"/>
          <p:cNvSpPr txBox="1"/>
          <p:nvPr/>
        </p:nvSpPr>
        <p:spPr>
          <a:xfrm>
            <a:off x="932688" y="5577840"/>
            <a:ext cx="3657600" cy="548640"/>
          </a:xfrm>
          <a:prstGeom prst="rect">
            <a:avLst/>
          </a:prstGeom>
          <a:noFill/>
        </p:spPr>
        <p:txBody>
          <a:bodyPr wrap="square" lIns="0" tIns="0" rIns="0" bIns="0" anchor="t">
            <a:spAutoFit/>
          </a:bodyPr>
          <a:lstStyle/>
          <a:p>
            <a:pPr algn="l"/>
            <a:r>
              <a:rPr sz="2600" b="1">
                <a:solidFill>
                  <a:srgbClr val="FFFFFF"/>
                </a:solidFill>
              </a:rPr>
              <a:t>Thank you</a:t>
            </a:r>
          </a:p>
        </p:txBody>
      </p:sp>
    </p:spTree>
    <p:extLst>
      <p:ext uri="{BB962C8B-B14F-4D97-AF65-F5344CB8AC3E}">
        <p14:creationId xmlns:p14="http://schemas.microsoft.com/office/powerpoint/2010/main" val="1504290149"/>
      </p:ext>
    </p:extLst>
  </p:cSld>
  <p:clrMapOvr>
    <a:masterClrMapping/>
  </p:clrMapOvr>
</p:sld>
</file>

<file path=ppt/theme/theme1.xml><?xml version="1.0" encoding="utf-8"?>
<a:theme xmlns:a="http://schemas.openxmlformats.org/drawingml/2006/main" name="Office Theme">
  <a:themeElements>
    <a:clrScheme name="NWU colors">
      <a:dk1>
        <a:srgbClr val="6C3D91"/>
      </a:dk1>
      <a:lt1>
        <a:sysClr val="window" lastClr="FFFFFF"/>
      </a:lt1>
      <a:dk2>
        <a:srgbClr val="00889C"/>
      </a:dk2>
      <a:lt2>
        <a:srgbClr val="78848E"/>
      </a:lt2>
      <a:accent1>
        <a:srgbClr val="5F439A"/>
      </a:accent1>
      <a:accent2>
        <a:srgbClr val="036F77"/>
      </a:accent2>
      <a:accent3>
        <a:srgbClr val="78848E"/>
      </a:accent3>
      <a:accent4>
        <a:srgbClr val="C9CDD1"/>
      </a:accent4>
      <a:accent5>
        <a:srgbClr val="B8F5FF"/>
      </a:accent5>
      <a:accent6>
        <a:srgbClr val="525A60"/>
      </a:accent6>
      <a:hlink>
        <a:srgbClr val="00889C"/>
      </a:hlink>
      <a:folHlink>
        <a:srgbClr val="5F439A"/>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WU_PPT_07" id="{513CC988-A299-4A5D-9630-3F3A67E2EF10}" vid="{CD618A1F-5143-4359-AEDD-D125CCE698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48792943EBFAF46BAF68C89307A2CB8" ma:contentTypeVersion="4" ma:contentTypeDescription="Create a new document." ma:contentTypeScope="" ma:versionID="5ee5e69732fd458cb027bacbffb65ee9">
  <xsd:schema xmlns:xsd="http://www.w3.org/2001/XMLSchema" xmlns:xs="http://www.w3.org/2001/XMLSchema" xmlns:p="http://schemas.microsoft.com/office/2006/metadata/properties" xmlns:ns2="9f01d782-6d68-40f4-a413-83e9a70aa72b" targetNamespace="http://schemas.microsoft.com/office/2006/metadata/properties" ma:root="true" ma:fieldsID="25ad0b24cff3cf512b0fe94a29bce015" ns2:_="">
    <xsd:import namespace="9f01d782-6d68-40f4-a413-83e9a70aa72b"/>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01d782-6d68-40f4-a413-83e9a70aa7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3317FBF-DD55-42E4-9F37-102135432408}">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6CC8571-2779-4A94-8FA0-D508BF0D74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01d782-6d68-40f4-a413-83e9a70aa72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05CAEEA-F7E3-45D0-9CCE-32FC45BBD9C3}">
  <ds:schemaRefs>
    <ds:schemaRef ds:uri="http://schemas.microsoft.com/sharepoint/v3/contenttype/forms"/>
  </ds:schemaRefs>
</ds:datastoreItem>
</file>

<file path=docMetadata/LabelInfo.xml><?xml version="1.0" encoding="utf-8"?>
<clbl:labelList xmlns:clbl="http://schemas.microsoft.com/office/2020/mipLabelMetadata">
  <clbl:label id="{b14d86f1-83ba-4b13-a702-b5c0231b9337}" enabled="0" method="" siteId="{b14d86f1-83ba-4b13-a702-b5c0231b9337}" removed="1"/>
</clbl:labelList>
</file>

<file path=docProps/app.xml><?xml version="1.0" encoding="utf-8"?>
<Properties xmlns="http://schemas.openxmlformats.org/officeDocument/2006/extended-properties" xmlns:vt="http://schemas.openxmlformats.org/officeDocument/2006/docPropsVTypes">
  <Template>NWU_PPT_06</Template>
  <TotalTime>23</TotalTime>
  <Words>1019</Words>
  <Application>Microsoft Office PowerPoint</Application>
  <PresentationFormat>Widescreen</PresentationFormat>
  <Paragraphs>95</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Courier New</vt:lpstr>
      <vt:lpstr>Office Theme</vt:lpstr>
      <vt:lpstr>Communication and Tracking System for a Stratospheric Balloon</vt:lpstr>
      <vt:lpstr>Problem statement</vt:lpstr>
      <vt:lpstr>Methodology</vt:lpstr>
      <vt:lpstr>Key concepts from the literature</vt:lpstr>
      <vt:lpstr>The artefact</vt:lpstr>
      <vt:lpstr>Demonstration: flight log excerpts</vt:lpstr>
      <vt:lpstr>Results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Selouna Visser</dc:creator>
  <cp:lastModifiedBy>Tvvat_ Waffle</cp:lastModifiedBy>
  <cp:revision>2</cp:revision>
  <dcterms:created xsi:type="dcterms:W3CDTF">2026-10-06T07:19:43Z</dcterms:created>
  <dcterms:modified xsi:type="dcterms:W3CDTF">2026-10-21T11:10:44Z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0x010100E48792943EBFAF46BAF68C89307A2CB8</vt:lpwstr>
  </property>
</Properties>
</file>